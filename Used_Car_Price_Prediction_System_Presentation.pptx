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0108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1 | TIME: ~0:45]</a:t>
            </a:r>
          </a:p>
          <a:p>
            <a:endParaRPr/>
          </a:p>
          <a:p>
            <a:r>
              <a:t>"Good morning everyone. Welcome to our presentation. Today, our team is presenting our Used Car Price Prediction System—an automated, data-driven valuation solution built to eliminate pricing guesswork in the automotive marketplace.</a:t>
            </a:r>
          </a:p>
          <a:p>
            <a:endParaRPr/>
          </a:p>
          <a:p>
            <a:r>
              <a:t>Setting the right price on pre-owned vehicles is one of the most critical commercial decisions an automotive business makes every single day. We built a complete, production-ready valuation platform that instantly estimates fair market value using real market transaction history. </a:t>
            </a:r>
          </a:p>
          <a:p>
            <a:endParaRPr/>
          </a:p>
          <a:p>
            <a:r>
              <a:t>Over the next ten minutes, we will present the core business challenge, our data findings, the models tested, a live system walkthrough, and the concrete business return. Let's begin with the business problem."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1 | TIME: ~0:55]</a:t>
            </a:r>
          </a:p>
          <a:p>
            <a:endParaRPr/>
          </a:p>
          <a:p>
            <a:r>
              <a:t>"Why is vehicle pricing such a difficult problem? </a:t>
            </a:r>
          </a:p>
          <a:p>
            <a:endParaRPr/>
          </a:p>
          <a:p>
            <a:r>
              <a:t>Because unlike new cars with fixed MSRP stickers, no two used cars are identical. Two cars made in the same year have vastly different true market values based on mileage, usage intensity, brand equity, and accident history.</a:t>
            </a:r>
          </a:p>
          <a:p>
            <a:endParaRPr/>
          </a:p>
          <a:p>
            <a:r>
              <a:t>Today, dealerships rely heavily on manual human estimation. While experienced appraisers possess good intuition, manual appraisals create two expensive business risks:</a:t>
            </a:r>
          </a:p>
          <a:p>
            <a:r>
              <a:t>First: Overpricing. When you price a car too high, it sits on the lot. Operating capital is tied up, holding costs increase, and you eventually discount it at a loss.</a:t>
            </a:r>
          </a:p>
          <a:p>
            <a:r>
              <a:t>Second: Underpricing. The car sells fast, but you leave thousands of dollars of profit on the table.</a:t>
            </a:r>
          </a:p>
          <a:p>
            <a:endParaRPr/>
          </a:p>
          <a:p>
            <a:r>
              <a:t>Our business needed an objective, repeatable valuation standard. I will now show how our platform solves this."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1 | TIME: ~0:50]</a:t>
            </a:r>
          </a:p>
          <a:p>
            <a:r>
              <a:t>[TRANSITION TO SPEAKER 2]</a:t>
            </a:r>
          </a:p>
          <a:p>
            <a:endParaRPr/>
          </a:p>
          <a:p>
            <a:r>
              <a:t>"To solve this problem, we developed an intelligent valuation platform.</a:t>
            </a:r>
          </a:p>
          <a:p>
            <a:endParaRPr/>
          </a:p>
          <a:p>
            <a:r>
              <a:t>The workflow is simple:</a:t>
            </a:r>
          </a:p>
          <a:p>
            <a:r>
              <a:t>1. Staff enter basic vehicle specs: year, mileage, brand, and title condition.</a:t>
            </a:r>
          </a:p>
          <a:p>
            <a:r>
              <a:t>2. The engine instantly compares the vehicle against thousands of verified historical transactions.</a:t>
            </a:r>
          </a:p>
          <a:p>
            <a:r>
              <a:t>3. The platform outputs an expected market price and a safe negotiation corridor.</a:t>
            </a:r>
          </a:p>
          <a:p>
            <a:r>
              <a:t>4. Your sales team closes trade-ins faster and protects company margins.</a:t>
            </a:r>
          </a:p>
          <a:p>
            <a:endParaRPr/>
          </a:p>
          <a:p>
            <a:r>
              <a:t>This tool acts as an objective decision-support copilot—keeping final discretion in human hands. I will now hand over to Member 2 to explain how we prepared and validated the underlying data."</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2 | TIME: ~1:15]</a:t>
            </a:r>
          </a:p>
          <a:p>
            <a:endParaRPr/>
          </a:p>
          <a:p>
            <a:r>
              <a:t>"Thank you. A valuation engine is only as good as the data powering it.</a:t>
            </a:r>
          </a:p>
          <a:p>
            <a:endParaRPr/>
          </a:p>
          <a:p>
            <a:r>
              <a:t>We based our system on an authentic dataset of 4,008 real used vehicle transactions. Before running any predictions, our primary focus was data hygiene:</a:t>
            </a:r>
          </a:p>
          <a:p>
            <a:r>
              <a:t>1. Data Cleaning: We filtered out duplicate entries, corrected invalid values, and ensured all vehicle records were clean.</a:t>
            </a:r>
          </a:p>
          <a:p>
            <a:r>
              <a:t>2. Price Stabilization: Because vehicles range from $2,500 economy hatchbacks to $300,000 supercars, prices are heavily skewed. We stabilized price curves to ensure luxury cars don't distort estimates for everyday family cars.</a:t>
            </a:r>
          </a:p>
          <a:p>
            <a:r>
              <a:t>3. Derived Business Features: We created smart indicators like 'Miles Driven per Year' to distinguish high-wear fleet cars from low-mileage commuter vehicles, along with luxury brand tiers.</a:t>
            </a:r>
          </a:p>
          <a:p>
            <a:r>
              <a:t>4. Strict Validation: We held back 802 cars that the system never saw during training, proving that our model performs reliably on future customer inventory."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2 | TIME: ~1:15]</a:t>
            </a:r>
          </a:p>
          <a:p>
            <a:r>
              <a:t>[TRANSITION TO SPEAKER 3]</a:t>
            </a:r>
          </a:p>
          <a:p>
            <a:endParaRPr/>
          </a:p>
          <a:p>
            <a:r>
              <a:t>"Our data preparation revealed critical business findings about what moves car prices:</a:t>
            </a:r>
          </a:p>
          <a:p>
            <a:endParaRPr/>
          </a:p>
          <a:p>
            <a:r>
              <a:t>1. Age and Usage Rate: A 4-year-old car driven 5,000 miles a year retains much more value than one driven 30,000 miles a year. Age and annual usage must always be assessed together.</a:t>
            </a:r>
          </a:p>
          <a:p>
            <a:r>
              <a:t>2. Odometer Mileage: This is the strongest downward anchor, reflecting accumulated physical wear.</a:t>
            </a:r>
          </a:p>
          <a:p>
            <a:r>
              <a:t>3. Brand Prestige: Luxury brands hold residual value differently compared to economy brands.</a:t>
            </a:r>
          </a:p>
          <a:p>
            <a:r>
              <a:t>4. Title and Accident History: A salvage title or accident triggers an immediate wholesale discount.</a:t>
            </a:r>
          </a:p>
          <a:p>
            <a:endParaRPr/>
          </a:p>
          <a:p>
            <a:r>
              <a:t>Because our automated system evaluates all four factors simultaneously, it prevents appraisers from overlooking critical depreciation drivers. I will now hand over to Member 3 to explain the four valuation methods we investigated."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3 | TIME: ~1:15]</a:t>
            </a:r>
          </a:p>
          <a:p>
            <a:endParaRPr/>
          </a:p>
          <a:p>
            <a:r>
              <a:t>"Thank you. When choosing the right valuation engine, our goal was not to pick complex math, but to test four established approaches to find the most dependable engine for business use.</a:t>
            </a:r>
          </a:p>
          <a:p>
            <a:endParaRPr/>
          </a:p>
          <a:p>
            <a:r>
              <a:t>We investigated four distinct methods:</a:t>
            </a:r>
          </a:p>
          <a:p>
            <a:r>
              <a:t>1. Linear Regression: Assumes price drops in a straight line with age and mileage. It is simple, but car depreciation in the real world is rarely a straight line.</a:t>
            </a:r>
          </a:p>
          <a:p>
            <a:r>
              <a:t>2. Decision Tree: Uses simple if-then decision branches. However, single trees are rigid and make erratic price jumps on new cars.</a:t>
            </a:r>
          </a:p>
          <a:p>
            <a:r>
              <a:t>3. Random Forest: Creates an entire committee of decision trees and averages their estimates. Much more stable.</a:t>
            </a:r>
          </a:p>
          <a:p>
            <a:r>
              <a:t>4. Gradient Boosting: Rather than just averaging trees, it builds trees step-by-step, where each new model learns from and corrects the mistakes of the previous ones. It excels at subtle nuances, like knowing that mileage discounts luxury cars differently than economy cars."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3 | TIME: ~1:15]</a:t>
            </a:r>
          </a:p>
          <a:p>
            <a:r>
              <a:t>[TRANSITION TO SPEAKER 4]</a:t>
            </a:r>
          </a:p>
          <a:p>
            <a:endParaRPr/>
          </a:p>
          <a:p>
            <a:r>
              <a:t>"Let us examine the results when all four approaches were evaluated on our 800 unseen test vehicles:</a:t>
            </a:r>
          </a:p>
          <a:p>
            <a:endParaRPr/>
          </a:p>
          <a:p>
            <a:r>
              <a:t>- Linear Regression achieved a 59.9% accuracy score—an acceptable baseline, but too rigid to handle complex price curves.</a:t>
            </a:r>
          </a:p>
          <a:p>
            <a:r>
              <a:t>- Decision Tree fell behind at 39.3%, proving far too erratic for commercial use.</a:t>
            </a:r>
          </a:p>
          <a:p>
            <a:r>
              <a:t>- Random Forest performed well as an ensemble benchmark.</a:t>
            </a:r>
          </a:p>
          <a:p>
            <a:r>
              <a:t>- Gradient Boosting demonstrated clear leadership: it achieved an accuracy score of 66.2%, successfully capturing roughly two out of every three dollars of price variation across the entire market.</a:t>
            </a:r>
          </a:p>
          <a:p>
            <a:endParaRPr/>
          </a:p>
          <a:p>
            <a:r>
              <a:t>It won because it avoids sudden, erratic appraisal jumps. It smoothly adapts whether evaluating a $15,000 sedan or an $80,000 luxury SUV. </a:t>
            </a:r>
          </a:p>
          <a:p>
            <a:endParaRPr/>
          </a:p>
          <a:p>
            <a:r>
              <a:t>I will now hand over to our final member to walk through the selected champion model, the live system demonstration, and our strategic conclusion."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4 | TIME: ~1:15]</a:t>
            </a:r>
          </a:p>
          <a:p>
            <a:endParaRPr/>
          </a:p>
          <a:p>
            <a:r>
              <a:t>"Thank you. With Gradient Boosting selected as our champion engine, we packaged it into a user-friendly, production-ready web application.</a:t>
            </a:r>
          </a:p>
          <a:p>
            <a:endParaRPr/>
          </a:p>
          <a:p>
            <a:r>
              <a:t>Let's see how this works in an everyday dealership scenario:</a:t>
            </a:r>
          </a:p>
          <a:p>
            <a:r>
              <a:t>Imagine a customer walks into your showroom to trade in a 2021 BMW with 35,000 miles on the odometer, an automatic transmission, and a clean vehicle title.</a:t>
            </a:r>
          </a:p>
          <a:p>
            <a:endParaRPr/>
          </a:p>
          <a:p>
            <a:r>
              <a:t>Your sales representative opens our portal, selects the car's attributes, and clicks 'Compute Market Valuation'. </a:t>
            </a:r>
          </a:p>
          <a:p>
            <a:r>
              <a:t>In less than two seconds, the Gradient Boosting engine evaluates the vehicle. </a:t>
            </a:r>
          </a:p>
          <a:p>
            <a:endParaRPr/>
          </a:p>
          <a:p>
            <a:r>
              <a:t>As shown on screen, the platform delivers an expected fair market value of $48,250, accompanied by a negotiation corridor of $43,000 to $54,000. It also highlights the key drivers that justify this figure—such as luxury brand equity and the clean title bonus.</a:t>
            </a:r>
          </a:p>
          <a:p>
            <a:endParaRPr/>
          </a:p>
          <a:p>
            <a:r>
              <a:t>Every valuation is automatically saved to the dealership database, allowing branch managers to audit recent evaluations or clear resolved records with one click. It requires zero technical expertise for your staff to operate."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4 | TIME: ~1:15]</a:t>
            </a:r>
          </a:p>
          <a:p>
            <a:endParaRPr/>
          </a:p>
          <a:p>
            <a:r>
              <a:t>"To conclude our presentation: our team has delivered a fully functioning, data-backed vehicle valuation platform designed specifically for commercial decision-makers.</a:t>
            </a:r>
          </a:p>
          <a:p>
            <a:endParaRPr/>
          </a:p>
          <a:p>
            <a:r>
              <a:t>By replacing subjective appraisal guesswork with empirical market intelligence:</a:t>
            </a:r>
          </a:p>
          <a:p>
            <a:r>
              <a:t>1. We increase appraisal speed by over 90%, letting your sales team focus on closing transactions rather than hunting across classified portals.</a:t>
            </a:r>
          </a:p>
          <a:p>
            <a:r>
              <a:t>2. We establish unified pricing consistency across every location and every appraiser.</a:t>
            </a:r>
          </a:p>
          <a:p>
            <a:r>
              <a:t>3. We protect your company's gross profit margins from the costly pitfalls of overpricing and underpricing.</a:t>
            </a:r>
          </a:p>
          <a:p>
            <a:endParaRPr/>
          </a:p>
          <a:p>
            <a:r>
              <a:t>Our recommendation is to deploy this platform as an operational copilot for your appraisal and trade-in teams.</a:t>
            </a:r>
          </a:p>
          <a:p>
            <a:endParaRPr/>
          </a:p>
          <a:p>
            <a:r>
              <a:t>Thank you very much for your time and consideration. Our team is now delighted to open the floor to your questions and discussion."</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097280"/>
            <a:ext cx="109728" cy="4663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097280" y="1097280"/>
            <a:ext cx="3291840" cy="365760"/>
          </a:xfrm>
          <a:prstGeom prst="roundRect">
            <a:avLst/>
          </a:prstGeom>
          <a:solidFill>
            <a:srgbClr val="1E293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EA5E9"/>
                </a:solidFill>
                <a:latin typeface="Arial"/>
              </a:defRPr>
            </a:pPr>
            <a:r>
              <a:t>EXECUTIVE VALUATION PLATFORM</a:t>
            </a:r>
          </a:p>
        </p:txBody>
      </p:sp>
      <p:sp>
        <p:nvSpPr>
          <p:cNvPr id="5" name="TextBox 4"/>
          <p:cNvSpPr txBox="1"/>
          <p:nvPr/>
        </p:nvSpPr>
        <p:spPr>
          <a:xfrm>
            <a:off x="1097280" y="1645920"/>
            <a:ext cx="4937760" cy="1645920"/>
          </a:xfrm>
          <a:prstGeom prst="rect">
            <a:avLst/>
          </a:prstGeom>
          <a:noFill/>
        </p:spPr>
        <p:txBody>
          <a:bodyPr wrap="square">
            <a:spAutoFit/>
          </a:bodyPr>
          <a:lstStyle/>
          <a:p>
            <a:pPr>
              <a:defRPr sz="3600" b="1">
                <a:solidFill>
                  <a:srgbClr val="FFFFFF"/>
                </a:solidFill>
                <a:latin typeface="Arial"/>
              </a:defRPr>
            </a:pPr>
            <a:r>
              <a:t>Used Car Price</a:t>
            </a:r>
            <a:br/>
            <a:r>
              <a:t>Prediction System</a:t>
            </a:r>
          </a:p>
          <a:p>
            <a:pPr>
              <a:spcBef>
                <a:spcPts val="1000"/>
              </a:spcBef>
              <a:defRPr sz="1500">
                <a:solidFill>
                  <a:srgbClr val="0EA5E9"/>
                </a:solidFill>
                <a:latin typeface="Arial"/>
              </a:defRPr>
            </a:pPr>
            <a:r>
              <a:t>Data-driven vehicle valuation for smarter pricing decisions.</a:t>
            </a:r>
          </a:p>
        </p:txBody>
      </p:sp>
      <p:sp>
        <p:nvSpPr>
          <p:cNvPr id="6" name="Rounded Rectangle 5"/>
          <p:cNvSpPr/>
          <p:nvPr/>
        </p:nvSpPr>
        <p:spPr>
          <a:xfrm>
            <a:off x="1097280" y="3931920"/>
            <a:ext cx="4846320" cy="18288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lIns="274320" tIns="228600" rtlCol="0" anchor="ctr"/>
          <a:lstStyle/>
          <a:p>
            <a:pPr algn="ctr">
              <a:defRPr sz="1000" b="1">
                <a:solidFill>
                  <a:srgbClr val="2563EB"/>
                </a:solidFill>
                <a:latin typeface="Arial"/>
              </a:defRPr>
            </a:pPr>
            <a:r>
              <a:t>CORE VALUE PROPOSITION</a:t>
            </a:r>
          </a:p>
          <a:p>
            <a:pPr>
              <a:spcBef>
                <a:spcPts val="600"/>
              </a:spcBef>
              <a:defRPr sz="1100">
                <a:solidFill>
                  <a:srgbClr val="FFFFFF"/>
                </a:solidFill>
              </a:defRPr>
            </a:pPr>
            <a:r>
              <a:t>✔ Replaces subjective appraisal guesswork with empirical market intelligence.</a:t>
            </a:r>
          </a:p>
          <a:p>
            <a:pPr>
              <a:spcBef>
                <a:spcPts val="600"/>
              </a:spcBef>
              <a:defRPr sz="1100">
                <a:solidFill>
                  <a:srgbClr val="FFFFFF"/>
                </a:solidFill>
              </a:defRPr>
            </a:pPr>
            <a:r>
              <a:t>✔ Generates instant fair market valuations in under 2 seconds.</a:t>
            </a:r>
          </a:p>
          <a:p>
            <a:pPr>
              <a:spcBef>
                <a:spcPts val="600"/>
              </a:spcBef>
              <a:defRPr sz="1100">
                <a:solidFill>
                  <a:srgbClr val="FFFFFF"/>
                </a:solidFill>
              </a:defRPr>
            </a:pPr>
            <a:r>
              <a:t>✔ Tested on 4,000+ real transactions to protect dealership profit margins.</a:t>
            </a:r>
          </a:p>
        </p:txBody>
      </p:sp>
      <p:sp>
        <p:nvSpPr>
          <p:cNvPr id="7" name="Rounded Rectangle 6"/>
          <p:cNvSpPr/>
          <p:nvPr/>
        </p:nvSpPr>
        <p:spPr>
          <a:xfrm>
            <a:off x="6217920" y="1371600"/>
            <a:ext cx="5212080" cy="329184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ar_hero.jpg"/>
          <p:cNvPicPr>
            <a:picLocks noChangeAspect="1"/>
          </p:cNvPicPr>
          <p:nvPr/>
        </p:nvPicPr>
        <p:blipFill>
          <a:blip r:embed="rId3"/>
          <a:stretch>
            <a:fillRect/>
          </a:stretch>
        </p:blipFill>
        <p:spPr>
          <a:xfrm>
            <a:off x="6263640" y="1417320"/>
            <a:ext cx="5120640" cy="3200400"/>
          </a:xfrm>
          <a:prstGeom prst="rect">
            <a:avLst/>
          </a:prstGeom>
        </p:spPr>
      </p:pic>
      <p:sp>
        <p:nvSpPr>
          <p:cNvPr id="9" name="Rounded Rectangle 8"/>
          <p:cNvSpPr/>
          <p:nvPr/>
        </p:nvSpPr>
        <p:spPr>
          <a:xfrm>
            <a:off x="6217920" y="4892040"/>
            <a:ext cx="5212080" cy="868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lIns="274320" tIns="164592" rtlCol="0" anchor="ctr"/>
          <a:lstStyle/>
          <a:p>
            <a:pPr algn="ctr">
              <a:defRPr sz="1000" b="1">
                <a:solidFill>
                  <a:srgbClr val="0EA5E9"/>
                </a:solidFill>
              </a:defRPr>
            </a:pPr>
            <a:r>
              <a:t>ENTERPRISE INTELLIGENCE ENGINE</a:t>
            </a:r>
          </a:p>
          <a:p>
            <a:pPr>
              <a:spcBef>
                <a:spcPts val="200"/>
              </a:spcBef>
              <a:defRPr sz="1050">
                <a:solidFill>
                  <a:srgbClr val="FFFFFF"/>
                </a:solidFill>
              </a:defRPr>
            </a:pPr>
            <a:r>
              <a:t>Benchmarked on verified commercial transaction datasets.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8686800" cy="292608"/>
          </a:xfrm>
          <a:prstGeom prst="rect">
            <a:avLst/>
          </a:prstGeom>
          <a:noFill/>
        </p:spPr>
        <p:txBody>
          <a:bodyPr wrap="square" lIns="0" tIns="0" rIns="0" bIns="0">
            <a:spAutoFit/>
          </a:bodyPr>
          <a:lstStyle/>
          <a:p>
            <a:pPr>
              <a:defRPr sz="1100" b="1">
                <a:solidFill>
                  <a:srgbClr val="2563EB"/>
                </a:solidFill>
                <a:latin typeface="Arial"/>
              </a:defRPr>
            </a:pPr>
            <a:r>
              <a:t>MARKET CONTEXT</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0F172A"/>
                </a:solidFill>
                <a:latin typeface="Arial"/>
              </a:defRPr>
            </a:pPr>
            <a:r>
              <a:t>The Business Problem: The Cost of Pricing Guesswork</a:t>
            </a:r>
          </a:p>
        </p:txBody>
      </p:sp>
      <p:sp>
        <p:nvSpPr>
          <p:cNvPr id="5" name="Rounded Rectangle 4"/>
          <p:cNvSpPr/>
          <p:nvPr/>
        </p:nvSpPr>
        <p:spPr>
          <a:xfrm>
            <a:off x="731520" y="1463040"/>
            <a:ext cx="5120640"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320040" tIns="320040" rtlCol="0" anchor="ctr"/>
          <a:lstStyle/>
          <a:p>
            <a:pPr algn="ctr">
              <a:defRPr sz="1300" b="1">
                <a:solidFill>
                  <a:srgbClr val="0F172A"/>
                </a:solidFill>
              </a:defRPr>
            </a:pPr>
            <a:r>
              <a:t>THE APPRAISAL CHALLENGE</a:t>
            </a:r>
          </a:p>
          <a:p>
            <a:pPr>
              <a:spcBef>
                <a:spcPts val="800"/>
              </a:spcBef>
              <a:defRPr sz="1100">
                <a:solidFill>
                  <a:srgbClr val="64748B"/>
                </a:solidFill>
              </a:defRPr>
            </a:pPr>
            <a:r>
              <a:t>• High Multi-Factor Variance: Every used car has a unique blend of mileage, age, brand prestige, and history.</a:t>
            </a:r>
          </a:p>
          <a:p>
            <a:pPr>
              <a:spcBef>
                <a:spcPts val="800"/>
              </a:spcBef>
              <a:defRPr sz="1100">
                <a:solidFill>
                  <a:srgbClr val="64748B"/>
                </a:solidFill>
              </a:defRPr>
            </a:pPr>
            <a:r>
              <a:t>• Inconsistent Evaluations: Different appraisers evaluate the same vehicle differently across branch locations.</a:t>
            </a:r>
          </a:p>
          <a:p>
            <a:pPr>
              <a:spcBef>
                <a:spcPts val="800"/>
              </a:spcBef>
              <a:defRPr sz="1100">
                <a:solidFill>
                  <a:srgbClr val="64748B"/>
                </a:solidFill>
              </a:defRPr>
            </a:pPr>
            <a:r>
              <a:t>• Time-Consuming Research: Staff spend 30 to 45 minutes manually cross-checking classified portals per vehicle.</a:t>
            </a:r>
          </a:p>
          <a:p>
            <a:pPr>
              <a:spcBef>
                <a:spcPts val="800"/>
              </a:spcBef>
              <a:defRPr sz="1100">
                <a:solidFill>
                  <a:srgbClr val="64748B"/>
                </a:solidFill>
              </a:defRPr>
            </a:pPr>
            <a:r>
              <a:t>• Unpredictable Margins: Subjective pricing leads to volatile, unpredictable gross profit margins.</a:t>
            </a:r>
          </a:p>
        </p:txBody>
      </p:sp>
      <p:sp>
        <p:nvSpPr>
          <p:cNvPr id="6" name="Rounded Rectangle 5"/>
          <p:cNvSpPr/>
          <p:nvPr/>
        </p:nvSpPr>
        <p:spPr>
          <a:xfrm>
            <a:off x="6217920" y="1463040"/>
            <a:ext cx="5212080"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320040" tIns="320040" rtlCol="0" anchor="ctr"/>
          <a:lstStyle/>
          <a:p>
            <a:pPr algn="ctr">
              <a:defRPr sz="1300" b="1">
                <a:solidFill>
                  <a:srgbClr val="EF4444"/>
                </a:solidFill>
              </a:defRPr>
            </a:pPr>
            <a:r>
              <a:t>THE DUAL FINANCIAL RISKS</a:t>
            </a:r>
          </a:p>
        </p:txBody>
      </p:sp>
      <p:sp>
        <p:nvSpPr>
          <p:cNvPr id="7" name="Rounded Rectangle 6"/>
          <p:cNvSpPr/>
          <p:nvPr/>
        </p:nvSpPr>
        <p:spPr>
          <a:xfrm>
            <a:off x="6492240" y="2011680"/>
            <a:ext cx="4663440" cy="1280160"/>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lIns="182880" tIns="164592" rtlCol="0" anchor="ctr"/>
          <a:lstStyle/>
          <a:p>
            <a:pPr algn="ctr">
              <a:defRPr sz="1100" b="1">
                <a:solidFill>
                  <a:srgbClr val="EF4444"/>
                </a:solidFill>
              </a:defRPr>
            </a:pPr>
            <a:r>
              <a:t>OVERPRICING  ►  INVENTORY STAGNATION</a:t>
            </a:r>
          </a:p>
          <a:p>
            <a:pPr>
              <a:spcBef>
                <a:spcPts val="400"/>
              </a:spcBef>
              <a:defRPr sz="1000">
                <a:solidFill>
                  <a:srgbClr val="64748B"/>
                </a:solidFill>
              </a:defRPr>
            </a:pPr>
            <a:r>
              <a:t>Car sits on the lot for months. Holding costs accumulate, capital is frozen, and forced discounts destroy profits.</a:t>
            </a:r>
          </a:p>
        </p:txBody>
      </p:sp>
      <p:sp>
        <p:nvSpPr>
          <p:cNvPr id="8" name="Rounded Rectangle 7"/>
          <p:cNvSpPr/>
          <p:nvPr/>
        </p:nvSpPr>
        <p:spPr>
          <a:xfrm>
            <a:off x="6492240" y="3703320"/>
            <a:ext cx="4663440" cy="1280160"/>
          </a:xfrm>
          <a:prstGeom prst="roundRect">
            <a:avLst/>
          </a:prstGeom>
          <a:solidFill>
            <a:srgbClr val="FFF7ED"/>
          </a:solidFill>
          <a:ln>
            <a:solidFill>
              <a:srgbClr val="FED7AA"/>
            </a:solidFill>
          </a:ln>
        </p:spPr>
        <p:style>
          <a:lnRef idx="1">
            <a:schemeClr val="accent1"/>
          </a:lnRef>
          <a:fillRef idx="3">
            <a:schemeClr val="accent1"/>
          </a:fillRef>
          <a:effectRef idx="2">
            <a:schemeClr val="accent1"/>
          </a:effectRef>
          <a:fontRef idx="minor">
            <a:schemeClr val="lt1"/>
          </a:fontRef>
        </p:style>
        <p:txBody>
          <a:bodyPr lIns="182880" tIns="164592" rtlCol="0" anchor="ctr"/>
          <a:lstStyle/>
          <a:p>
            <a:pPr algn="ctr">
              <a:defRPr sz="1100" b="1">
                <a:solidFill>
                  <a:srgbClr val="C2410C"/>
                </a:solidFill>
              </a:defRPr>
            </a:pPr>
            <a:r>
              <a:t>UNDERPRICING  ►  FORFEITED PROFIT MARGIN</a:t>
            </a:r>
          </a:p>
          <a:p>
            <a:pPr>
              <a:spcBef>
                <a:spcPts val="400"/>
              </a:spcBef>
              <a:defRPr sz="1000">
                <a:solidFill>
                  <a:srgbClr val="64748B"/>
                </a:solidFill>
              </a:defRPr>
            </a:pPr>
            <a:r>
              <a:t>Car sells immediately, but thousands of dollars in legitimate gross margin are permanently lost.</a:t>
            </a:r>
          </a:p>
        </p:txBody>
      </p:sp>
      <p:sp>
        <p:nvSpPr>
          <p:cNvPr id="9" name="Rectangle 8"/>
          <p:cNvSpPr/>
          <p:nvPr/>
        </p:nvSpPr>
        <p:spPr>
          <a:xfrm>
            <a:off x="731520" y="5532120"/>
            <a:ext cx="10698480" cy="685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THE BOTTOM LINE: Subjective appraisal guesswork directly threatens dealership profitability.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8686800" cy="292608"/>
          </a:xfrm>
          <a:prstGeom prst="rect">
            <a:avLst/>
          </a:prstGeom>
          <a:noFill/>
        </p:spPr>
        <p:txBody>
          <a:bodyPr wrap="square" lIns="0" tIns="0" rIns="0" bIns="0">
            <a:spAutoFit/>
          </a:bodyPr>
          <a:lstStyle/>
          <a:p>
            <a:pPr>
              <a:defRPr sz="1100" b="1">
                <a:solidFill>
                  <a:srgbClr val="2563EB"/>
                </a:solidFill>
                <a:latin typeface="Arial"/>
              </a:defRPr>
            </a:pPr>
            <a:r>
              <a:t>SOLUTION WORKFLOW</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0F172A"/>
                </a:solidFill>
                <a:latin typeface="Arial"/>
              </a:defRPr>
            </a:pPr>
            <a:r>
              <a:t>Our Solution: An Automated Valuation Engine</a:t>
            </a:r>
          </a:p>
        </p:txBody>
      </p:sp>
      <p:sp>
        <p:nvSpPr>
          <p:cNvPr id="5" name="Rounded Rectangle 4"/>
          <p:cNvSpPr/>
          <p:nvPr/>
        </p:nvSpPr>
        <p:spPr>
          <a:xfrm>
            <a:off x="731520" y="1371600"/>
            <a:ext cx="10728655" cy="8686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"An automated platform referencing thousands of verified transactions to calculate fair market prices in seconds."</a:t>
            </a:r>
          </a:p>
        </p:txBody>
      </p:sp>
      <p:sp>
        <p:nvSpPr>
          <p:cNvPr id="6" name="Rounded Rectangle 5"/>
          <p:cNvSpPr/>
          <p:nvPr/>
        </p:nvSpPr>
        <p:spPr>
          <a:xfrm>
            <a:off x="731520" y="2423160"/>
            <a:ext cx="2560320" cy="1828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228600" tIns="182880" rtlCol="0" anchor="ctr"/>
          <a:lstStyle/>
          <a:p>
            <a:pPr algn="ctr">
              <a:defRPr sz="1100" b="1">
                <a:solidFill>
                  <a:srgbClr val="0F172A"/>
                </a:solidFill>
              </a:defRPr>
            </a:pPr>
            <a:r>
              <a:t>1. VEHICLE INTAKE</a:t>
            </a:r>
          </a:p>
          <a:p>
            <a:pPr>
              <a:spcBef>
                <a:spcPts val="600"/>
              </a:spcBef>
              <a:defRPr sz="1000">
                <a:solidFill>
                  <a:srgbClr val="64748B"/>
                </a:solidFill>
              </a:defRPr>
            </a:pPr>
            <a:r>
              <a:t>Enter simple specs:</a:t>
            </a:r>
            <a:br/>
            <a:r>
              <a:t>Year, mileage, brand, title status, transmission.</a:t>
            </a:r>
          </a:p>
        </p:txBody>
      </p:sp>
      <p:sp>
        <p:nvSpPr>
          <p:cNvPr id="7" name="Rounded Rectangle 6"/>
          <p:cNvSpPr/>
          <p:nvPr/>
        </p:nvSpPr>
        <p:spPr>
          <a:xfrm>
            <a:off x="3520439" y="2423160"/>
            <a:ext cx="2560320" cy="1828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228600" tIns="182880" rtlCol="0" anchor="ctr"/>
          <a:lstStyle/>
          <a:p>
            <a:pPr algn="ctr">
              <a:defRPr sz="1100" b="1">
                <a:solidFill>
                  <a:srgbClr val="0F172A"/>
                </a:solidFill>
              </a:defRPr>
            </a:pPr>
            <a:r>
              <a:t>2. VALUATION ENGINE</a:t>
            </a:r>
          </a:p>
          <a:p>
            <a:pPr>
              <a:spcBef>
                <a:spcPts val="600"/>
              </a:spcBef>
              <a:defRPr sz="1000">
                <a:solidFill>
                  <a:srgbClr val="64748B"/>
                </a:solidFill>
              </a:defRPr>
            </a:pPr>
            <a:r>
              <a:t>Instantly benchmarked against thousands of market transactions.</a:t>
            </a:r>
          </a:p>
        </p:txBody>
      </p:sp>
      <p:sp>
        <p:nvSpPr>
          <p:cNvPr id="8" name="Rounded Rectangle 7"/>
          <p:cNvSpPr/>
          <p:nvPr/>
        </p:nvSpPr>
        <p:spPr>
          <a:xfrm>
            <a:off x="6309359" y="2423160"/>
            <a:ext cx="2560320" cy="1828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228600" tIns="182880" rtlCol="0" anchor="ctr"/>
          <a:lstStyle/>
          <a:p>
            <a:pPr algn="ctr">
              <a:defRPr sz="1100" b="1">
                <a:solidFill>
                  <a:srgbClr val="0F172A"/>
                </a:solidFill>
              </a:defRPr>
            </a:pPr>
            <a:r>
              <a:t>3. RECOMMENDED PRICE</a:t>
            </a:r>
          </a:p>
          <a:p>
            <a:pPr>
              <a:spcBef>
                <a:spcPts val="600"/>
              </a:spcBef>
              <a:defRPr sz="1000">
                <a:solidFill>
                  <a:srgbClr val="64748B"/>
                </a:solidFill>
              </a:defRPr>
            </a:pPr>
            <a:r>
              <a:t>Generates fair market value plus a safe negotiation band.</a:t>
            </a:r>
          </a:p>
        </p:txBody>
      </p:sp>
      <p:sp>
        <p:nvSpPr>
          <p:cNvPr id="9" name="Rounded Rectangle 8"/>
          <p:cNvSpPr/>
          <p:nvPr/>
        </p:nvSpPr>
        <p:spPr>
          <a:xfrm>
            <a:off x="9098280" y="2423160"/>
            <a:ext cx="2560320" cy="182880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lIns="228600" tIns="182880" rtlCol="0" anchor="ctr"/>
          <a:lstStyle/>
          <a:p>
            <a:pPr algn="ctr">
              <a:defRPr sz="1100" b="1">
                <a:solidFill>
                  <a:srgbClr val="2563EB"/>
                </a:solidFill>
              </a:defRPr>
            </a:pPr>
            <a:r>
              <a:t>4. PROFITABLE DEAL</a:t>
            </a:r>
          </a:p>
          <a:p>
            <a:pPr>
              <a:spcBef>
                <a:spcPts val="600"/>
              </a:spcBef>
              <a:defRPr sz="1000">
                <a:solidFill>
                  <a:srgbClr val="64748B"/>
                </a:solidFill>
              </a:defRPr>
            </a:pPr>
            <a:r>
              <a:t>Appraisers close trade-ins faster and protect gross margins.</a:t>
            </a:r>
          </a:p>
        </p:txBody>
      </p:sp>
      <p:sp>
        <p:nvSpPr>
          <p:cNvPr id="10" name="Rounded Rectangle 9"/>
          <p:cNvSpPr/>
          <p:nvPr/>
        </p:nvSpPr>
        <p:spPr>
          <a:xfrm>
            <a:off x="731520" y="4480560"/>
            <a:ext cx="3474720" cy="1554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228600" tIns="228600" rtlCol="0" anchor="ctr"/>
          <a:lstStyle/>
          <a:p>
            <a:pPr algn="ctr">
              <a:defRPr sz="1300" b="1">
                <a:solidFill>
                  <a:srgbClr val="2563EB"/>
                </a:solidFill>
              </a:defRPr>
            </a:pPr>
            <a:r>
              <a:t>⚡ &lt; 2 Seconds</a:t>
            </a:r>
          </a:p>
          <a:p>
            <a:pPr>
              <a:spcBef>
                <a:spcPts val="600"/>
              </a:spcBef>
              <a:defRPr sz="1000">
                <a:solidFill>
                  <a:srgbClr val="64748B"/>
                </a:solidFill>
              </a:defRPr>
            </a:pPr>
            <a:r>
              <a:t>Instant valuation vs 30+ minutes of manual search</a:t>
            </a:r>
          </a:p>
        </p:txBody>
      </p:sp>
      <p:sp>
        <p:nvSpPr>
          <p:cNvPr id="11" name="Rounded Rectangle 10"/>
          <p:cNvSpPr/>
          <p:nvPr/>
        </p:nvSpPr>
        <p:spPr>
          <a:xfrm>
            <a:off x="4434840" y="4480560"/>
            <a:ext cx="3474720" cy="1554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228600" tIns="228600" rtlCol="0" anchor="ctr"/>
          <a:lstStyle/>
          <a:p>
            <a:pPr algn="ctr">
              <a:defRPr sz="1300" b="1">
                <a:solidFill>
                  <a:srgbClr val="2563EB"/>
                </a:solidFill>
              </a:defRPr>
            </a:pPr>
            <a:r>
              <a:t>🎯 100% Unified</a:t>
            </a:r>
          </a:p>
          <a:p>
            <a:pPr>
              <a:spcBef>
                <a:spcPts val="600"/>
              </a:spcBef>
              <a:defRPr sz="1000">
                <a:solidFill>
                  <a:srgbClr val="64748B"/>
                </a:solidFill>
              </a:defRPr>
            </a:pPr>
            <a:r>
              <a:t>Consistent pricing standards across all branches</a:t>
            </a:r>
          </a:p>
        </p:txBody>
      </p:sp>
      <p:sp>
        <p:nvSpPr>
          <p:cNvPr id="12" name="Rounded Rectangle 11"/>
          <p:cNvSpPr/>
          <p:nvPr/>
        </p:nvSpPr>
        <p:spPr>
          <a:xfrm>
            <a:off x="8138160" y="4480560"/>
            <a:ext cx="3474720" cy="1554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228600" tIns="228600" rtlCol="0" anchor="ctr"/>
          <a:lstStyle/>
          <a:p>
            <a:pPr algn="ctr">
              <a:defRPr sz="1300" b="1">
                <a:solidFill>
                  <a:srgbClr val="2563EB"/>
                </a:solidFill>
              </a:defRPr>
            </a:pPr>
            <a:r>
              <a:t>🛡️ Decision Copilot</a:t>
            </a:r>
          </a:p>
          <a:p>
            <a:pPr>
              <a:spcBef>
                <a:spcPts val="600"/>
              </a:spcBef>
              <a:defRPr sz="1000">
                <a:solidFill>
                  <a:srgbClr val="64748B"/>
                </a:solidFill>
              </a:defRPr>
            </a:pPr>
            <a:r>
              <a:t>Empowers staff while keeping final judgment in human hands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8686800" cy="292608"/>
          </a:xfrm>
          <a:prstGeom prst="rect">
            <a:avLst/>
          </a:prstGeom>
          <a:noFill/>
        </p:spPr>
        <p:txBody>
          <a:bodyPr wrap="square" lIns="0" tIns="0" rIns="0" bIns="0">
            <a:spAutoFit/>
          </a:bodyPr>
          <a:lstStyle/>
          <a:p>
            <a:pPr>
              <a:defRPr sz="1100" b="1">
                <a:solidFill>
                  <a:srgbClr val="2563EB"/>
                </a:solidFill>
                <a:latin typeface="Arial"/>
              </a:defRPr>
            </a:pPr>
            <a:r>
              <a:t>DATA ENGINEERING</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0F172A"/>
                </a:solidFill>
                <a:latin typeface="Arial"/>
              </a:defRPr>
            </a:pPr>
            <a:r>
              <a:t>Data Foundation &amp; Preprocessing: Clean, Reliable Intelligence</a:t>
            </a:r>
          </a:p>
        </p:txBody>
      </p:sp>
      <p:sp>
        <p:nvSpPr>
          <p:cNvPr id="5" name="Rounded Rectangle 4"/>
          <p:cNvSpPr/>
          <p:nvPr/>
        </p:nvSpPr>
        <p:spPr>
          <a:xfrm>
            <a:off x="731520" y="1371600"/>
            <a:ext cx="10728655" cy="6858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0EA5E9"/>
                </a:solidFill>
              </a:defRPr>
            </a:pPr>
            <a:r>
              <a:t>DATA FOUNDATION: 4,008 REAL CAR SALES   |   3,206 TRAINING SAMPLES   |   802 UNTOUCHED TEST BENCHMARK</a:t>
            </a:r>
          </a:p>
        </p:txBody>
      </p:sp>
      <p:sp>
        <p:nvSpPr>
          <p:cNvPr id="6" name="Rounded Rectangle 5"/>
          <p:cNvSpPr/>
          <p:nvPr/>
        </p:nvSpPr>
        <p:spPr>
          <a:xfrm>
            <a:off x="731520" y="2286000"/>
            <a:ext cx="5212080" cy="1508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274320" tIns="164592" rtlCol="0" anchor="ctr"/>
          <a:lstStyle/>
          <a:p>
            <a:pPr algn="ctr">
              <a:defRPr sz="1100" b="1">
                <a:solidFill>
                  <a:srgbClr val="2563EB"/>
                </a:solidFill>
              </a:defRPr>
            </a:pPr>
            <a:r>
              <a:t>1. DATA CLEANING &amp; QUALITY CONTROL</a:t>
            </a:r>
          </a:p>
          <a:p>
            <a:pPr>
              <a:spcBef>
                <a:spcPts val="300"/>
              </a:spcBef>
              <a:defRPr sz="950">
                <a:solidFill>
                  <a:srgbClr val="64748B"/>
                </a:solidFill>
              </a:defRPr>
            </a:pPr>
            <a:r>
              <a:t>• Filtered duplicate listings and verified vehicle records.</a:t>
            </a:r>
          </a:p>
          <a:p>
            <a:pPr>
              <a:spcBef>
                <a:spcPts val="300"/>
              </a:spcBef>
              <a:defRPr sz="950">
                <a:solidFill>
                  <a:srgbClr val="64748B"/>
                </a:solidFill>
              </a:defRPr>
            </a:pPr>
            <a:r>
              <a:t>• Handled missing attributes with representative statistical medians.</a:t>
            </a:r>
          </a:p>
          <a:p>
            <a:pPr>
              <a:spcBef>
                <a:spcPts val="300"/>
              </a:spcBef>
              <a:defRPr sz="950">
                <a:solidFill>
                  <a:srgbClr val="64748B"/>
                </a:solidFill>
              </a:defRPr>
            </a:pPr>
            <a:r>
              <a:t>• Ensured only complete, verified market profiles entered the pipeline.</a:t>
            </a:r>
          </a:p>
        </p:txBody>
      </p:sp>
      <p:sp>
        <p:nvSpPr>
          <p:cNvPr id="7" name="Rounded Rectangle 6"/>
          <p:cNvSpPr/>
          <p:nvPr/>
        </p:nvSpPr>
        <p:spPr>
          <a:xfrm>
            <a:off x="6217920" y="2286000"/>
            <a:ext cx="5212080" cy="1508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274320" tIns="164592" rtlCol="0" anchor="ctr"/>
          <a:lstStyle/>
          <a:p>
            <a:pPr algn="ctr">
              <a:defRPr sz="1100" b="1">
                <a:solidFill>
                  <a:srgbClr val="2563EB"/>
                </a:solidFill>
              </a:defRPr>
            </a:pPr>
            <a:r>
              <a:t>2. TARGET PRICE STABILIZATION</a:t>
            </a:r>
          </a:p>
          <a:p>
            <a:pPr>
              <a:spcBef>
                <a:spcPts val="300"/>
              </a:spcBef>
              <a:defRPr sz="950">
                <a:solidFill>
                  <a:srgbClr val="64748B"/>
                </a:solidFill>
              </a:defRPr>
            </a:pPr>
            <a:r>
              <a:t>• Used car prices span from $2,500 commuters to $300,000+ luxury cars.</a:t>
            </a:r>
          </a:p>
          <a:p>
            <a:pPr>
              <a:spcBef>
                <a:spcPts val="300"/>
              </a:spcBef>
              <a:defRPr sz="950">
                <a:solidFill>
                  <a:srgbClr val="64748B"/>
                </a:solidFill>
              </a:defRPr>
            </a:pPr>
            <a:r>
              <a:t>• Normalized price distribution using logarithmic scaling.</a:t>
            </a:r>
          </a:p>
          <a:p>
            <a:pPr>
              <a:spcBef>
                <a:spcPts val="300"/>
              </a:spcBef>
              <a:defRPr sz="950">
                <a:solidFill>
                  <a:srgbClr val="64748B"/>
                </a:solidFill>
              </a:defRPr>
            </a:pPr>
            <a:r>
              <a:t>• Prevents extreme exotic outliers from distorting everyday car estimates.</a:t>
            </a:r>
          </a:p>
        </p:txBody>
      </p:sp>
      <p:sp>
        <p:nvSpPr>
          <p:cNvPr id="8" name="Rounded Rectangle 7"/>
          <p:cNvSpPr/>
          <p:nvPr/>
        </p:nvSpPr>
        <p:spPr>
          <a:xfrm>
            <a:off x="731520" y="3931920"/>
            <a:ext cx="5212080" cy="1508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274320" tIns="164592" rtlCol="0" anchor="ctr"/>
          <a:lstStyle/>
          <a:p>
            <a:pPr algn="ctr">
              <a:defRPr sz="1100" b="1">
                <a:solidFill>
                  <a:srgbClr val="2563EB"/>
                </a:solidFill>
              </a:defRPr>
            </a:pPr>
            <a:r>
              <a:t>3. DERIVED BUSINESS INDICATORS</a:t>
            </a:r>
          </a:p>
          <a:p>
            <a:pPr>
              <a:spcBef>
                <a:spcPts val="300"/>
              </a:spcBef>
              <a:defRPr sz="950">
                <a:solidFill>
                  <a:srgbClr val="64748B"/>
                </a:solidFill>
              </a:defRPr>
            </a:pPr>
            <a:r>
              <a:t>• Engineered 'Miles per Year' to separate heavy fleet wear from commuter cars.</a:t>
            </a:r>
          </a:p>
          <a:p>
            <a:pPr>
              <a:spcBef>
                <a:spcPts val="300"/>
              </a:spcBef>
              <a:defRPr sz="950">
                <a:solidFill>
                  <a:srgbClr val="64748B"/>
                </a:solidFill>
              </a:defRPr>
            </a:pPr>
            <a:r>
              <a:t>• Flagged Luxury Brand tiers to capture distinct luxury depreciation behavior.</a:t>
            </a:r>
          </a:p>
          <a:p>
            <a:pPr>
              <a:spcBef>
                <a:spcPts val="300"/>
              </a:spcBef>
              <a:defRPr sz="950">
                <a:solidFill>
                  <a:srgbClr val="64748B"/>
                </a:solidFill>
              </a:defRPr>
            </a:pPr>
            <a:r>
              <a:t>• Encoded transmission, fuel type, and clean title status into market signals.</a:t>
            </a:r>
          </a:p>
        </p:txBody>
      </p:sp>
      <p:sp>
        <p:nvSpPr>
          <p:cNvPr id="9" name="Rounded Rectangle 8"/>
          <p:cNvSpPr/>
          <p:nvPr/>
        </p:nvSpPr>
        <p:spPr>
          <a:xfrm>
            <a:off x="6217920" y="3931920"/>
            <a:ext cx="5212080" cy="1508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274320" tIns="164592" rtlCol="0" anchor="ctr"/>
          <a:lstStyle/>
          <a:p>
            <a:pPr algn="ctr">
              <a:defRPr sz="1100" b="1">
                <a:solidFill>
                  <a:srgbClr val="2563EB"/>
                </a:solidFill>
              </a:defRPr>
            </a:pPr>
            <a:r>
              <a:t>4. STRICT UNSEEN BENCHMARK</a:t>
            </a:r>
          </a:p>
          <a:p>
            <a:pPr>
              <a:spcBef>
                <a:spcPts val="300"/>
              </a:spcBef>
              <a:defRPr sz="950">
                <a:solidFill>
                  <a:srgbClr val="64748B"/>
                </a:solidFill>
              </a:defRPr>
            </a:pPr>
            <a:r>
              <a:t>• Reserved 20% of all data (802 vehicles) completely untouched.</a:t>
            </a:r>
          </a:p>
          <a:p>
            <a:pPr>
              <a:spcBef>
                <a:spcPts val="300"/>
              </a:spcBef>
              <a:defRPr sz="950">
                <a:solidFill>
                  <a:srgbClr val="64748B"/>
                </a:solidFill>
              </a:defRPr>
            </a:pPr>
            <a:r>
              <a:t>• Evaluated models strictly on unseen cars to simulate live customer arrivals.</a:t>
            </a:r>
          </a:p>
          <a:p>
            <a:pPr>
              <a:spcBef>
                <a:spcPts val="300"/>
              </a:spcBef>
              <a:defRPr sz="950">
                <a:solidFill>
                  <a:srgbClr val="64748B"/>
                </a:solidFill>
              </a:defRPr>
            </a:pPr>
            <a:r>
              <a:t>• Guarantees that reported accuracy reflects real-world commercial performance.</a:t>
            </a:r>
          </a:p>
        </p:txBody>
      </p:sp>
      <p:sp>
        <p:nvSpPr>
          <p:cNvPr id="10" name="Rounded Rectangle 9"/>
          <p:cNvSpPr/>
          <p:nvPr/>
        </p:nvSpPr>
        <p:spPr>
          <a:xfrm>
            <a:off x="731520" y="5623560"/>
            <a:ext cx="10728655" cy="59436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2563EB"/>
                </a:solidFill>
              </a:defRPr>
            </a:pPr>
            <a:r>
              <a:t>KEY TAKEAWAY: Rigorous data preprocessing ensures the system learns genuine market behavior rather than statistical noise.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8686800" cy="292608"/>
          </a:xfrm>
          <a:prstGeom prst="rect">
            <a:avLst/>
          </a:prstGeom>
          <a:noFill/>
        </p:spPr>
        <p:txBody>
          <a:bodyPr wrap="square" lIns="0" tIns="0" rIns="0" bIns="0">
            <a:spAutoFit/>
          </a:bodyPr>
          <a:lstStyle/>
          <a:p>
            <a:pPr>
              <a:defRPr sz="1100" b="1">
                <a:solidFill>
                  <a:srgbClr val="2563EB"/>
                </a:solidFill>
                <a:latin typeface="Arial"/>
              </a:defRPr>
            </a:pPr>
            <a:r>
              <a:t>MARKET DISCOVERIES</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0F172A"/>
                </a:solidFill>
                <a:latin typeface="Arial"/>
              </a:defRPr>
            </a:pPr>
            <a:r>
              <a:t>Key Market Drivers: What Truly Dictates Vehicle Resale Value?</a:t>
            </a:r>
          </a:p>
        </p:txBody>
      </p:sp>
      <p:sp>
        <p:nvSpPr>
          <p:cNvPr id="5" name="Rounded Rectangle 4"/>
          <p:cNvSpPr/>
          <p:nvPr/>
        </p:nvSpPr>
        <p:spPr>
          <a:xfrm>
            <a:off x="731520" y="1463040"/>
            <a:ext cx="2560320" cy="3931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182880" tIns="228600" rtlCol="0" anchor="ctr"/>
          <a:lstStyle/>
          <a:p>
            <a:pPr algn="ctr">
              <a:defRPr sz="1100" b="1">
                <a:solidFill>
                  <a:srgbClr val="2563EB"/>
                </a:solidFill>
              </a:defRPr>
            </a:pPr>
            <a:r>
              <a:t>01. AGE &amp; USAGE INTENSITY</a:t>
            </a:r>
          </a:p>
          <a:p>
            <a:pPr>
              <a:spcBef>
                <a:spcPts val="800"/>
              </a:spcBef>
              <a:defRPr sz="1000">
                <a:solidFill>
                  <a:srgbClr val="64748B"/>
                </a:solidFill>
              </a:defRPr>
            </a:pPr>
            <a:r>
              <a:t>• Year-over-year mechanical and technological depreciation.</a:t>
            </a:r>
          </a:p>
          <a:p>
            <a:pPr>
              <a:spcBef>
                <a:spcPts val="800"/>
              </a:spcBef>
              <a:defRPr sz="1000">
                <a:solidFill>
                  <a:srgbClr val="64748B"/>
                </a:solidFill>
              </a:defRPr>
            </a:pPr>
            <a:r>
              <a:t>• Annual usage rate differentiates commuter cars from fleet wear.</a:t>
            </a:r>
          </a:p>
          <a:p>
            <a:pPr>
              <a:spcBef>
                <a:spcPts val="800"/>
              </a:spcBef>
              <a:defRPr sz="1000">
                <a:solidFill>
                  <a:srgbClr val="64748B"/>
                </a:solidFill>
              </a:defRPr>
            </a:pPr>
            <a:r>
              <a:t>• Age alone is misleading without knowing yearly usage intensity.</a:t>
            </a:r>
          </a:p>
        </p:txBody>
      </p:sp>
      <p:sp>
        <p:nvSpPr>
          <p:cNvPr id="6" name="Rounded Rectangle 5"/>
          <p:cNvSpPr/>
          <p:nvPr/>
        </p:nvSpPr>
        <p:spPr>
          <a:xfrm>
            <a:off x="3520439" y="1463040"/>
            <a:ext cx="2560320" cy="3931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182880" tIns="228600" rtlCol="0" anchor="ctr"/>
          <a:lstStyle/>
          <a:p>
            <a:pPr algn="ctr">
              <a:defRPr sz="1100" b="1">
                <a:solidFill>
                  <a:srgbClr val="2563EB"/>
                </a:solidFill>
              </a:defRPr>
            </a:pPr>
            <a:r>
              <a:t>02. ODOMETER MILEAGE</a:t>
            </a:r>
          </a:p>
          <a:p>
            <a:pPr>
              <a:spcBef>
                <a:spcPts val="800"/>
              </a:spcBef>
              <a:defRPr sz="1000">
                <a:solidFill>
                  <a:srgbClr val="64748B"/>
                </a:solidFill>
              </a:defRPr>
            </a:pPr>
            <a:r>
              <a:t>• Primary indicator of physical mechanical wear.</a:t>
            </a:r>
          </a:p>
          <a:p>
            <a:pPr>
              <a:spcBef>
                <a:spcPts val="800"/>
              </a:spcBef>
              <a:defRPr sz="1000">
                <a:solidFill>
                  <a:srgbClr val="64748B"/>
                </a:solidFill>
              </a:defRPr>
            </a:pPr>
            <a:r>
              <a:t>• Strongest day-to-day downward price driver.</a:t>
            </a:r>
          </a:p>
          <a:p>
            <a:pPr>
              <a:spcBef>
                <a:spcPts val="800"/>
              </a:spcBef>
              <a:defRPr sz="1000">
                <a:solidFill>
                  <a:srgbClr val="64748B"/>
                </a:solidFill>
              </a:defRPr>
            </a:pPr>
            <a:r>
              <a:t>• Depreciation penalty naturally flattens at higher mileage thresholds.</a:t>
            </a:r>
          </a:p>
        </p:txBody>
      </p:sp>
      <p:sp>
        <p:nvSpPr>
          <p:cNvPr id="7" name="Rounded Rectangle 6"/>
          <p:cNvSpPr/>
          <p:nvPr/>
        </p:nvSpPr>
        <p:spPr>
          <a:xfrm>
            <a:off x="6309359" y="1463040"/>
            <a:ext cx="2560320" cy="3931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182880" tIns="228600" rtlCol="0" anchor="ctr"/>
          <a:lstStyle/>
          <a:p>
            <a:pPr algn="ctr">
              <a:defRPr sz="1100" b="1">
                <a:solidFill>
                  <a:srgbClr val="2563EB"/>
                </a:solidFill>
              </a:defRPr>
            </a:pPr>
            <a:r>
              <a:t>03. BRAND &amp; LUXURY PRESTIGE</a:t>
            </a:r>
          </a:p>
          <a:p>
            <a:pPr>
              <a:spcBef>
                <a:spcPts val="800"/>
              </a:spcBef>
              <a:defRPr sz="1000">
                <a:solidFill>
                  <a:srgbClr val="64748B"/>
                </a:solidFill>
              </a:defRPr>
            </a:pPr>
            <a:r>
              <a:t>• Prestige brands (Porsche, BMW, Mercedes) follow distinct value curves.</a:t>
            </a:r>
          </a:p>
          <a:p>
            <a:pPr>
              <a:spcBef>
                <a:spcPts val="800"/>
              </a:spcBef>
              <a:defRPr sz="1000">
                <a:solidFill>
                  <a:srgbClr val="64748B"/>
                </a:solidFill>
              </a:defRPr>
            </a:pPr>
            <a:r>
              <a:t>• Economy brands (Toyota, Honda) offer steady, predictable resale.</a:t>
            </a:r>
          </a:p>
          <a:p>
            <a:pPr>
              <a:spcBef>
                <a:spcPts val="800"/>
              </a:spcBef>
              <a:defRPr sz="1000">
                <a:solidFill>
                  <a:srgbClr val="64748B"/>
                </a:solidFill>
              </a:defRPr>
            </a:pPr>
            <a:r>
              <a:t>• Prevents applying budget car depreciation rules to luxury cars.</a:t>
            </a:r>
          </a:p>
        </p:txBody>
      </p:sp>
      <p:sp>
        <p:nvSpPr>
          <p:cNvPr id="8" name="Rounded Rectangle 7"/>
          <p:cNvSpPr/>
          <p:nvPr/>
        </p:nvSpPr>
        <p:spPr>
          <a:xfrm>
            <a:off x="9098280" y="1463040"/>
            <a:ext cx="2560320" cy="3931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182880" tIns="228600" rtlCol="0" anchor="ctr"/>
          <a:lstStyle/>
          <a:p>
            <a:pPr algn="ctr">
              <a:defRPr sz="1100" b="1">
                <a:solidFill>
                  <a:srgbClr val="2563EB"/>
                </a:solidFill>
              </a:defRPr>
            </a:pPr>
            <a:r>
              <a:t>04. TITLE &amp; ACCIDENT RECORD</a:t>
            </a:r>
          </a:p>
          <a:p>
            <a:pPr>
              <a:spcBef>
                <a:spcPts val="800"/>
              </a:spcBef>
              <a:defRPr sz="1000">
                <a:solidFill>
                  <a:srgbClr val="64748B"/>
                </a:solidFill>
              </a:defRPr>
            </a:pPr>
            <a:r>
              <a:t>• Clean title verification is a prerequisite for fair trade-in value.</a:t>
            </a:r>
          </a:p>
          <a:p>
            <a:pPr>
              <a:spcBef>
                <a:spcPts val="800"/>
              </a:spcBef>
              <a:defRPr sz="1000">
                <a:solidFill>
                  <a:srgbClr val="64748B"/>
                </a:solidFill>
              </a:defRPr>
            </a:pPr>
            <a:r>
              <a:t>• Salvage or rebuilt titles trigger steep wholesale penalties.</a:t>
            </a:r>
          </a:p>
          <a:p>
            <a:pPr>
              <a:spcBef>
                <a:spcPts val="800"/>
              </a:spcBef>
              <a:defRPr sz="1000">
                <a:solidFill>
                  <a:srgbClr val="64748B"/>
                </a:solidFill>
              </a:defRPr>
            </a:pPr>
            <a:r>
              <a:t>• Prior accident history significantly dampens resale demand.</a:t>
            </a:r>
          </a:p>
        </p:txBody>
      </p:sp>
      <p:sp>
        <p:nvSpPr>
          <p:cNvPr id="9" name="Rounded Rectangle 8"/>
          <p:cNvSpPr/>
          <p:nvPr/>
        </p:nvSpPr>
        <p:spPr>
          <a:xfrm>
            <a:off x="731520" y="5577840"/>
            <a:ext cx="10728655" cy="68580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563EB"/>
                </a:solidFill>
              </a:defRPr>
            </a:pPr>
            <a:r>
              <a:t>BUSINESS INSIGHT: "True market value comes from the compound interaction of age, usage rate, brand prestige, and title status."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8686800" cy="292608"/>
          </a:xfrm>
          <a:prstGeom prst="rect">
            <a:avLst/>
          </a:prstGeom>
          <a:noFill/>
        </p:spPr>
        <p:txBody>
          <a:bodyPr wrap="square" lIns="0" tIns="0" rIns="0" bIns="0">
            <a:spAutoFit/>
          </a:bodyPr>
          <a:lstStyle/>
          <a:p>
            <a:pPr>
              <a:defRPr sz="1100" b="1">
                <a:solidFill>
                  <a:srgbClr val="2563EB"/>
                </a:solidFill>
                <a:latin typeface="Arial"/>
              </a:defRPr>
            </a:pPr>
            <a:r>
              <a:t>MODELING STRATEGY</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0F172A"/>
                </a:solidFill>
                <a:latin typeface="Arial"/>
              </a:defRPr>
            </a:pPr>
            <a:r>
              <a:t>Valuation Approaches: Exploring 4 Core Methods</a:t>
            </a:r>
          </a:p>
        </p:txBody>
      </p:sp>
      <p:sp>
        <p:nvSpPr>
          <p:cNvPr id="5" name="Rounded Rectangle 4"/>
          <p:cNvSpPr/>
          <p:nvPr/>
        </p:nvSpPr>
        <p:spPr>
          <a:xfrm>
            <a:off x="731520" y="1463040"/>
            <a:ext cx="5212080" cy="1874519"/>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274320" tIns="164592" rtlCol="0" anchor="ctr"/>
          <a:lstStyle/>
          <a:p>
            <a:pPr algn="ctr">
              <a:defRPr sz="1100" b="1">
                <a:solidFill>
                  <a:srgbClr val="2563EB"/>
                </a:solidFill>
              </a:defRPr>
            </a:pPr>
            <a:r>
              <a:t>1. LINEAR REGRESSION</a:t>
            </a:r>
          </a:p>
          <a:p>
            <a:pPr>
              <a:spcBef>
                <a:spcPts val="200"/>
              </a:spcBef>
              <a:defRPr sz="950" b="1">
                <a:solidFill>
                  <a:srgbClr val="0F172A"/>
                </a:solidFill>
              </a:defRPr>
            </a:pPr>
            <a:r>
              <a:t>Straight-Line Baseline</a:t>
            </a:r>
          </a:p>
          <a:p>
            <a:pPr>
              <a:spcBef>
                <a:spcPts val="300"/>
              </a:spcBef>
              <a:defRPr sz="950">
                <a:solidFill>
                  <a:srgbClr val="64748B"/>
                </a:solidFill>
              </a:defRPr>
            </a:pPr>
            <a:r>
              <a:t>• How it works: Assumes price drops in a fixed straight line with age and mileage.</a:t>
            </a:r>
          </a:p>
          <a:p>
            <a:pPr>
              <a:spcBef>
                <a:spcPts val="300"/>
              </a:spcBef>
              <a:defRPr sz="950">
                <a:solidFill>
                  <a:srgbClr val="64748B"/>
                </a:solidFill>
              </a:defRPr>
            </a:pPr>
            <a:r>
              <a:t>• Business Role: Useful baseline benchmark.</a:t>
            </a:r>
          </a:p>
          <a:p>
            <a:pPr>
              <a:spcBef>
                <a:spcPts val="300"/>
              </a:spcBef>
              <a:defRPr sz="950">
                <a:solidFill>
                  <a:srgbClr val="64748B"/>
                </a:solidFill>
              </a:defRPr>
            </a:pPr>
            <a:r>
              <a:t>• Limitation: Misses curved market realities like luxury brand retention.</a:t>
            </a:r>
          </a:p>
        </p:txBody>
      </p:sp>
      <p:sp>
        <p:nvSpPr>
          <p:cNvPr id="6" name="Rounded Rectangle 5"/>
          <p:cNvSpPr/>
          <p:nvPr/>
        </p:nvSpPr>
        <p:spPr>
          <a:xfrm>
            <a:off x="6217920" y="1463040"/>
            <a:ext cx="5212080" cy="1874519"/>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274320" tIns="164592" rtlCol="0" anchor="ctr"/>
          <a:lstStyle/>
          <a:p>
            <a:pPr algn="ctr">
              <a:defRPr sz="1100" b="1">
                <a:solidFill>
                  <a:srgbClr val="2563EB"/>
                </a:solidFill>
              </a:defRPr>
            </a:pPr>
            <a:r>
              <a:t>2. DECISION TREE</a:t>
            </a:r>
          </a:p>
          <a:p>
            <a:pPr>
              <a:spcBef>
                <a:spcPts val="200"/>
              </a:spcBef>
              <a:defRPr sz="950" b="1">
                <a:solidFill>
                  <a:srgbClr val="0F172A"/>
                </a:solidFill>
              </a:defRPr>
            </a:pPr>
            <a:r>
              <a:t>Single Rule-Tree</a:t>
            </a:r>
          </a:p>
          <a:p>
            <a:pPr>
              <a:spcBef>
                <a:spcPts val="300"/>
              </a:spcBef>
              <a:defRPr sz="950">
                <a:solidFill>
                  <a:srgbClr val="64748B"/>
                </a:solidFill>
              </a:defRPr>
            </a:pPr>
            <a:r>
              <a:t>• How it works: Splits cars using simple if-then decision rules.</a:t>
            </a:r>
          </a:p>
          <a:p>
            <a:pPr>
              <a:spcBef>
                <a:spcPts val="300"/>
              </a:spcBef>
              <a:defRPr sz="950">
                <a:solidFill>
                  <a:srgbClr val="64748B"/>
                </a:solidFill>
              </a:defRPr>
            </a:pPr>
            <a:r>
              <a:t>• Business Role: Highly transparent rules.</a:t>
            </a:r>
          </a:p>
          <a:p>
            <a:pPr>
              <a:spcBef>
                <a:spcPts val="300"/>
              </a:spcBef>
              <a:defRPr sz="950">
                <a:solidFill>
                  <a:srgbClr val="64748B"/>
                </a:solidFill>
              </a:defRPr>
            </a:pPr>
            <a:r>
              <a:t>• Limitation: Overly rigid; makes erratic price jumps on unseen vehicles.</a:t>
            </a:r>
          </a:p>
        </p:txBody>
      </p:sp>
      <p:sp>
        <p:nvSpPr>
          <p:cNvPr id="7" name="Rounded Rectangle 6"/>
          <p:cNvSpPr/>
          <p:nvPr/>
        </p:nvSpPr>
        <p:spPr>
          <a:xfrm>
            <a:off x="731520" y="3566160"/>
            <a:ext cx="5212080" cy="1874519"/>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274320" tIns="164592" rtlCol="0" anchor="ctr"/>
          <a:lstStyle/>
          <a:p>
            <a:pPr algn="ctr">
              <a:defRPr sz="1100" b="1">
                <a:solidFill>
                  <a:srgbClr val="2563EB"/>
                </a:solidFill>
              </a:defRPr>
            </a:pPr>
            <a:r>
              <a:t>3. RANDOM FOREST</a:t>
            </a:r>
          </a:p>
          <a:p>
            <a:pPr>
              <a:spcBef>
                <a:spcPts val="200"/>
              </a:spcBef>
              <a:defRPr sz="950" b="1">
                <a:solidFill>
                  <a:srgbClr val="0F172A"/>
                </a:solidFill>
              </a:defRPr>
            </a:pPr>
            <a:r>
              <a:t>Committee Consensus</a:t>
            </a:r>
          </a:p>
          <a:p>
            <a:pPr>
              <a:spcBef>
                <a:spcPts val="300"/>
              </a:spcBef>
              <a:defRPr sz="950">
                <a:solidFill>
                  <a:srgbClr val="64748B"/>
                </a:solidFill>
              </a:defRPr>
            </a:pPr>
            <a:r>
              <a:t>• How it works: Averages estimates across a large team of diverse decision trees.</a:t>
            </a:r>
          </a:p>
          <a:p>
            <a:pPr>
              <a:spcBef>
                <a:spcPts val="300"/>
              </a:spcBef>
              <a:defRPr sz="950">
                <a:solidFill>
                  <a:srgbClr val="64748B"/>
                </a:solidFill>
              </a:defRPr>
            </a:pPr>
            <a:r>
              <a:t>• Business Role: Highly stable ensemble benchmark.</a:t>
            </a:r>
          </a:p>
          <a:p>
            <a:pPr>
              <a:spcBef>
                <a:spcPts val="300"/>
              </a:spcBef>
              <a:defRPr sz="950">
                <a:solidFill>
                  <a:srgbClr val="64748B"/>
                </a:solidFill>
              </a:defRPr>
            </a:pPr>
            <a:r>
              <a:t>• Limitation: Effective, but computationally heavier.</a:t>
            </a:r>
          </a:p>
        </p:txBody>
      </p:sp>
      <p:sp>
        <p:nvSpPr>
          <p:cNvPr id="8" name="Rounded Rectangle 7"/>
          <p:cNvSpPr/>
          <p:nvPr/>
        </p:nvSpPr>
        <p:spPr>
          <a:xfrm>
            <a:off x="6217920" y="3566160"/>
            <a:ext cx="5212080" cy="1874519"/>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lIns="274320" tIns="164592" rtlCol="0" anchor="ctr"/>
          <a:lstStyle/>
          <a:p>
            <a:pPr algn="ctr">
              <a:defRPr sz="1100" b="1">
                <a:solidFill>
                  <a:srgbClr val="2563EB"/>
                </a:solidFill>
              </a:defRPr>
            </a:pPr>
            <a:r>
              <a:t>4. GRADIENT BOOSTING</a:t>
            </a:r>
          </a:p>
          <a:p>
            <a:pPr>
              <a:spcBef>
                <a:spcPts val="200"/>
              </a:spcBef>
              <a:defRPr sz="950" b="1">
                <a:solidFill>
                  <a:srgbClr val="0F172A"/>
                </a:solidFill>
              </a:defRPr>
            </a:pPr>
            <a:r>
              <a:t>Iterative Pattern Refiner (Champion)</a:t>
            </a:r>
          </a:p>
          <a:p>
            <a:pPr>
              <a:spcBef>
                <a:spcPts val="300"/>
              </a:spcBef>
              <a:defRPr sz="950">
                <a:solidFill>
                  <a:srgbClr val="64748B"/>
                </a:solidFill>
              </a:defRPr>
            </a:pPr>
            <a:r>
              <a:t>• How it works: Sequentially builds trees that learn from and correct previous errors.</a:t>
            </a:r>
          </a:p>
          <a:p>
            <a:pPr>
              <a:spcBef>
                <a:spcPts val="300"/>
              </a:spcBef>
              <a:defRPr sz="950">
                <a:solidFill>
                  <a:srgbClr val="64748B"/>
                </a:solidFill>
              </a:defRPr>
            </a:pPr>
            <a:r>
              <a:t>• Business Role: Exceptional at nuanced patterns like luxury brand curves.</a:t>
            </a:r>
          </a:p>
          <a:p>
            <a:pPr>
              <a:spcBef>
                <a:spcPts val="300"/>
              </a:spcBef>
              <a:defRPr sz="950">
                <a:solidFill>
                  <a:srgbClr val="64748B"/>
                </a:solidFill>
              </a:defRPr>
            </a:pPr>
            <a:r>
              <a:t>• Outcome: Delivered the highest explanatory power and consistency.</a:t>
            </a:r>
          </a:p>
        </p:txBody>
      </p:sp>
      <p:sp>
        <p:nvSpPr>
          <p:cNvPr id="9" name="Rounded Rectangle 8"/>
          <p:cNvSpPr/>
          <p:nvPr/>
        </p:nvSpPr>
        <p:spPr>
          <a:xfrm>
            <a:off x="731520" y="5623560"/>
            <a:ext cx="10728655" cy="6858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defRPr>
            </a:pPr>
            <a:r>
              <a:t>STRATEGIC APPROACH: Benchmarked four distinct approaches to identify the safest, most dependable tool for business operations.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8686800" cy="292608"/>
          </a:xfrm>
          <a:prstGeom prst="rect">
            <a:avLst/>
          </a:prstGeom>
          <a:noFill/>
        </p:spPr>
        <p:txBody>
          <a:bodyPr wrap="square" lIns="0" tIns="0" rIns="0" bIns="0">
            <a:spAutoFit/>
          </a:bodyPr>
          <a:lstStyle/>
          <a:p>
            <a:pPr>
              <a:defRPr sz="1100" b="1">
                <a:solidFill>
                  <a:srgbClr val="2563EB"/>
                </a:solidFill>
                <a:latin typeface="Arial"/>
              </a:defRPr>
            </a:pPr>
            <a:r>
              <a:t>MODEL EVALUATION</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0F172A"/>
                </a:solidFill>
                <a:latin typeface="Arial"/>
              </a:defRPr>
            </a:pPr>
            <a:r>
              <a:t>Comparing the 4 Methods: Performance &amp; Business Suitability</a:t>
            </a:r>
          </a:p>
        </p:txBody>
      </p:sp>
      <p:graphicFrame>
        <p:nvGraphicFramePr>
          <p:cNvPr id="5" name="Table 4"/>
          <p:cNvGraphicFramePr>
            <a:graphicFrameLocks noGrp="1"/>
          </p:cNvGraphicFramePr>
          <p:nvPr/>
        </p:nvGraphicFramePr>
        <p:xfrm>
          <a:off x="731520" y="1371600"/>
          <a:ext cx="6858000" cy="292608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585216">
                <a:tc>
                  <a:txBody>
                    <a:bodyPr/>
                    <a:lstStyle/>
                    <a:p>
                      <a:pPr>
                        <a:defRPr sz="1000" b="1">
                          <a:solidFill>
                            <a:srgbClr val="FFFFFF"/>
                          </a:solidFill>
                        </a:defRPr>
                      </a:pPr>
                      <a:r>
                        <a:t>Pricing Method</a:t>
                      </a:r>
                    </a:p>
                  </a:txBody>
                  <a:tcPr>
                    <a:solidFill>
                      <a:srgbClr val="0F172A"/>
                    </a:solidFill>
                  </a:tcPr>
                </a:tc>
                <a:tc>
                  <a:txBody>
                    <a:bodyPr/>
                    <a:lstStyle/>
                    <a:p>
                      <a:pPr>
                        <a:defRPr sz="1000" b="1">
                          <a:solidFill>
                            <a:srgbClr val="FFFFFF"/>
                          </a:solidFill>
                        </a:defRPr>
                      </a:pPr>
                      <a:r>
                        <a:t>Pattern Accuracy</a:t>
                      </a:r>
                    </a:p>
                  </a:txBody>
                  <a:tcPr>
                    <a:solidFill>
                      <a:srgbClr val="0F172A"/>
                    </a:solidFill>
                  </a:tcPr>
                </a:tc>
                <a:tc>
                  <a:txBody>
                    <a:bodyPr/>
                    <a:lstStyle/>
                    <a:p>
                      <a:pPr>
                        <a:defRPr sz="1000" b="1">
                          <a:solidFill>
                            <a:srgbClr val="FFFFFF"/>
                          </a:solidFill>
                        </a:defRPr>
                      </a:pPr>
                      <a:r>
                        <a:t>Handling Complexity</a:t>
                      </a:r>
                    </a:p>
                  </a:txBody>
                  <a:tcPr>
                    <a:solidFill>
                      <a:srgbClr val="0F172A"/>
                    </a:solidFill>
                  </a:tcPr>
                </a:tc>
                <a:tc>
                  <a:txBody>
                    <a:bodyPr/>
                    <a:lstStyle/>
                    <a:p>
                      <a:pPr>
                        <a:defRPr sz="1000" b="1">
                          <a:solidFill>
                            <a:srgbClr val="FFFFFF"/>
                          </a:solidFill>
                        </a:defRPr>
                      </a:pPr>
                      <a:r>
                        <a:t>Business Suitability</a:t>
                      </a:r>
                    </a:p>
                  </a:txBody>
                  <a:tcPr>
                    <a:solidFill>
                      <a:srgbClr val="0F172A"/>
                    </a:solidFill>
                  </a:tcPr>
                </a:tc>
                <a:extLst>
                  <a:ext uri="{0D108BD9-81ED-4DB2-BD59-A6C34878D82A}">
                    <a16:rowId xmlns:a16="http://schemas.microsoft.com/office/drawing/2014/main" val="10000"/>
                  </a:ext>
                </a:extLst>
              </a:tr>
              <a:tr h="585216">
                <a:tc>
                  <a:txBody>
                    <a:bodyPr/>
                    <a:lstStyle/>
                    <a:p>
                      <a:pPr>
                        <a:defRPr sz="1000">
                          <a:solidFill>
                            <a:srgbClr val="0F172A"/>
                          </a:solidFill>
                        </a:defRPr>
                      </a:pPr>
                      <a:r>
                        <a:t>Linear Regression</a:t>
                      </a:r>
                    </a:p>
                  </a:txBody>
                  <a:tcPr>
                    <a:solidFill>
                      <a:srgbClr val="FFFFFF"/>
                    </a:solidFill>
                  </a:tcPr>
                </a:tc>
                <a:tc>
                  <a:txBody>
                    <a:bodyPr/>
                    <a:lstStyle/>
                    <a:p>
                      <a:pPr>
                        <a:defRPr sz="1000">
                          <a:solidFill>
                            <a:srgbClr val="0F172A"/>
                          </a:solidFill>
                        </a:defRPr>
                      </a:pPr>
                      <a:r>
                        <a:t>59.9%</a:t>
                      </a:r>
                    </a:p>
                  </a:txBody>
                  <a:tcPr>
                    <a:solidFill>
                      <a:srgbClr val="FFFFFF"/>
                    </a:solidFill>
                  </a:tcPr>
                </a:tc>
                <a:tc>
                  <a:txBody>
                    <a:bodyPr/>
                    <a:lstStyle/>
                    <a:p>
                      <a:pPr>
                        <a:defRPr sz="1000">
                          <a:solidFill>
                            <a:srgbClr val="0F172A"/>
                          </a:solidFill>
                        </a:defRPr>
                      </a:pPr>
                      <a:r>
                        <a:t>Linear Only</a:t>
                      </a:r>
                    </a:p>
                  </a:txBody>
                  <a:tcPr>
                    <a:solidFill>
                      <a:srgbClr val="FFFFFF"/>
                    </a:solidFill>
                  </a:tcPr>
                </a:tc>
                <a:tc>
                  <a:txBody>
                    <a:bodyPr/>
                    <a:lstStyle/>
                    <a:p>
                      <a:pPr>
                        <a:defRPr sz="1000">
                          <a:solidFill>
                            <a:srgbClr val="0F172A"/>
                          </a:solidFill>
                        </a:defRPr>
                      </a:pPr>
                      <a:r>
                        <a:t>Baseline Benchmark</a:t>
                      </a:r>
                    </a:p>
                  </a:txBody>
                  <a:tcPr>
                    <a:solidFill>
                      <a:srgbClr val="FFFFFF"/>
                    </a:solidFill>
                  </a:tcPr>
                </a:tc>
                <a:extLst>
                  <a:ext uri="{0D108BD9-81ED-4DB2-BD59-A6C34878D82A}">
                    <a16:rowId xmlns:a16="http://schemas.microsoft.com/office/drawing/2014/main" val="10001"/>
                  </a:ext>
                </a:extLst>
              </a:tr>
              <a:tr h="585216">
                <a:tc>
                  <a:txBody>
                    <a:bodyPr/>
                    <a:lstStyle/>
                    <a:p>
                      <a:pPr>
                        <a:defRPr sz="1000">
                          <a:solidFill>
                            <a:srgbClr val="0F172A"/>
                          </a:solidFill>
                        </a:defRPr>
                      </a:pPr>
                      <a:r>
                        <a:t>Decision Tree</a:t>
                      </a:r>
                    </a:p>
                  </a:txBody>
                  <a:tcPr>
                    <a:solidFill>
                      <a:srgbClr val="FFFFFF"/>
                    </a:solidFill>
                  </a:tcPr>
                </a:tc>
                <a:tc>
                  <a:txBody>
                    <a:bodyPr/>
                    <a:lstStyle/>
                    <a:p>
                      <a:pPr>
                        <a:defRPr sz="1000">
                          <a:solidFill>
                            <a:srgbClr val="0F172A"/>
                          </a:solidFill>
                        </a:defRPr>
                      </a:pPr>
                      <a:r>
                        <a:t>39.3%</a:t>
                      </a:r>
                    </a:p>
                  </a:txBody>
                  <a:tcPr>
                    <a:solidFill>
                      <a:srgbClr val="FFFFFF"/>
                    </a:solidFill>
                  </a:tcPr>
                </a:tc>
                <a:tc>
                  <a:txBody>
                    <a:bodyPr/>
                    <a:lstStyle/>
                    <a:p>
                      <a:pPr>
                        <a:defRPr sz="1000">
                          <a:solidFill>
                            <a:srgbClr val="0F172A"/>
                          </a:solidFill>
                        </a:defRPr>
                      </a:pPr>
                      <a:r>
                        <a:t>Step-Wise Rules</a:t>
                      </a:r>
                    </a:p>
                  </a:txBody>
                  <a:tcPr>
                    <a:solidFill>
                      <a:srgbClr val="FFFFFF"/>
                    </a:solidFill>
                  </a:tcPr>
                </a:tc>
                <a:tc>
                  <a:txBody>
                    <a:bodyPr/>
                    <a:lstStyle/>
                    <a:p>
                      <a:pPr>
                        <a:defRPr sz="1000">
                          <a:solidFill>
                            <a:srgbClr val="0F172A"/>
                          </a:solidFill>
                        </a:defRPr>
                      </a:pPr>
                      <a:r>
                        <a:t>Unreliable / Inconsistent</a:t>
                      </a:r>
                    </a:p>
                  </a:txBody>
                  <a:tcPr>
                    <a:solidFill>
                      <a:srgbClr val="FFFFFF"/>
                    </a:solidFill>
                  </a:tcPr>
                </a:tc>
                <a:extLst>
                  <a:ext uri="{0D108BD9-81ED-4DB2-BD59-A6C34878D82A}">
                    <a16:rowId xmlns:a16="http://schemas.microsoft.com/office/drawing/2014/main" val="10002"/>
                  </a:ext>
                </a:extLst>
              </a:tr>
              <a:tr h="585216">
                <a:tc>
                  <a:txBody>
                    <a:bodyPr/>
                    <a:lstStyle/>
                    <a:p>
                      <a:pPr>
                        <a:defRPr sz="1000">
                          <a:solidFill>
                            <a:srgbClr val="0F172A"/>
                          </a:solidFill>
                        </a:defRPr>
                      </a:pPr>
                      <a:r>
                        <a:t>Random Forest</a:t>
                      </a:r>
                    </a:p>
                  </a:txBody>
                  <a:tcPr>
                    <a:solidFill>
                      <a:srgbClr val="FFFFFF"/>
                    </a:solidFill>
                  </a:tcPr>
                </a:tc>
                <a:tc>
                  <a:txBody>
                    <a:bodyPr/>
                    <a:lstStyle/>
                    <a:p>
                      <a:pPr>
                        <a:defRPr sz="1000">
                          <a:solidFill>
                            <a:srgbClr val="0F172A"/>
                          </a:solidFill>
                        </a:defRPr>
                      </a:pPr>
                      <a:r>
                        <a:t>Tested</a:t>
                      </a:r>
                    </a:p>
                  </a:txBody>
                  <a:tcPr>
                    <a:solidFill>
                      <a:srgbClr val="FFFFFF"/>
                    </a:solidFill>
                  </a:tcPr>
                </a:tc>
                <a:tc>
                  <a:txBody>
                    <a:bodyPr/>
                    <a:lstStyle/>
                    <a:p>
                      <a:pPr>
                        <a:defRPr sz="1000">
                          <a:solidFill>
                            <a:srgbClr val="0F172A"/>
                          </a:solidFill>
                        </a:defRPr>
                      </a:pPr>
                      <a:r>
                        <a:t>High Consensus</a:t>
                      </a:r>
                    </a:p>
                  </a:txBody>
                  <a:tcPr>
                    <a:solidFill>
                      <a:srgbClr val="FFFFFF"/>
                    </a:solidFill>
                  </a:tcPr>
                </a:tc>
                <a:tc>
                  <a:txBody>
                    <a:bodyPr/>
                    <a:lstStyle/>
                    <a:p>
                      <a:pPr>
                        <a:defRPr sz="1000">
                          <a:solidFill>
                            <a:srgbClr val="0F172A"/>
                          </a:solidFill>
                        </a:defRPr>
                      </a:pPr>
                      <a:r>
                        <a:t>Strong Contender</a:t>
                      </a:r>
                    </a:p>
                  </a:txBody>
                  <a:tcPr>
                    <a:solidFill>
                      <a:srgbClr val="FFFFFF"/>
                    </a:solidFill>
                  </a:tcPr>
                </a:tc>
                <a:extLst>
                  <a:ext uri="{0D108BD9-81ED-4DB2-BD59-A6C34878D82A}">
                    <a16:rowId xmlns:a16="http://schemas.microsoft.com/office/drawing/2014/main" val="10003"/>
                  </a:ext>
                </a:extLst>
              </a:tr>
              <a:tr h="585216">
                <a:tc>
                  <a:txBody>
                    <a:bodyPr/>
                    <a:lstStyle/>
                    <a:p>
                      <a:pPr>
                        <a:defRPr sz="1000" b="1">
                          <a:solidFill>
                            <a:srgbClr val="2563EB"/>
                          </a:solidFill>
                        </a:defRPr>
                      </a:pPr>
                      <a:r>
                        <a:t>Gradient Boosting</a:t>
                      </a:r>
                    </a:p>
                  </a:txBody>
                  <a:tcPr>
                    <a:solidFill>
                      <a:srgbClr val="EFF6FF"/>
                    </a:solidFill>
                  </a:tcPr>
                </a:tc>
                <a:tc>
                  <a:txBody>
                    <a:bodyPr/>
                    <a:lstStyle/>
                    <a:p>
                      <a:pPr>
                        <a:defRPr sz="1000" b="1">
                          <a:solidFill>
                            <a:srgbClr val="2563EB"/>
                          </a:solidFill>
                        </a:defRPr>
                      </a:pPr>
                      <a:r>
                        <a:t>66.2%</a:t>
                      </a:r>
                    </a:p>
                  </a:txBody>
                  <a:tcPr>
                    <a:solidFill>
                      <a:srgbClr val="EFF6FF"/>
                    </a:solidFill>
                  </a:tcPr>
                </a:tc>
                <a:tc>
                  <a:txBody>
                    <a:bodyPr/>
                    <a:lstStyle/>
                    <a:p>
                      <a:pPr>
                        <a:defRPr sz="1000" b="1">
                          <a:solidFill>
                            <a:srgbClr val="2563EB"/>
                          </a:solidFill>
                        </a:defRPr>
                      </a:pPr>
                      <a:r>
                        <a:t>Adaptive Refinement</a:t>
                      </a:r>
                    </a:p>
                  </a:txBody>
                  <a:tcPr>
                    <a:solidFill>
                      <a:srgbClr val="EFF6FF"/>
                    </a:solidFill>
                  </a:tcPr>
                </a:tc>
                <a:tc>
                  <a:txBody>
                    <a:bodyPr/>
                    <a:lstStyle/>
                    <a:p>
                      <a:pPr>
                        <a:defRPr sz="1000" b="1">
                          <a:solidFill>
                            <a:srgbClr val="2563EB"/>
                          </a:solidFill>
                        </a:defRPr>
                      </a:pPr>
                      <a:r>
                        <a:t>★ Selected Champion</a:t>
                      </a:r>
                    </a:p>
                  </a:txBody>
                  <a:tcPr>
                    <a:solidFill>
                      <a:srgbClr val="EFF6FF"/>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7863840" y="1371600"/>
            <a:ext cx="3596335" cy="39319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200" b="1">
                <a:solidFill>
                  <a:srgbClr val="2563EB"/>
                </a:solidFill>
              </a:defRPr>
            </a:pPr>
            <a:r>
              <a:t>WHY THE CHAMPION WON</a:t>
            </a:r>
          </a:p>
          <a:p>
            <a:pPr>
              <a:spcBef>
                <a:spcPts val="400"/>
              </a:spcBef>
              <a:defRPr sz="1500" b="1">
                <a:solidFill>
                  <a:srgbClr val="0F172A"/>
                </a:solidFill>
              </a:defRPr>
            </a:pPr>
            <a:r>
              <a:t>Gradient Boosting Regressor</a:t>
            </a:r>
          </a:p>
          <a:p>
            <a:pPr>
              <a:spcBef>
                <a:spcPts val="800"/>
              </a:spcBef>
              <a:defRPr sz="950">
                <a:solidFill>
                  <a:srgbClr val="64748B"/>
                </a:solidFill>
              </a:defRPr>
            </a:pPr>
            <a:r>
              <a:t>✔ Highest Accuracy: Captured 66.2% of market price variation on 800+ unseen test vehicles.</a:t>
            </a:r>
          </a:p>
          <a:p>
            <a:pPr>
              <a:spcBef>
                <a:spcPts val="800"/>
              </a:spcBef>
              <a:defRPr sz="950">
                <a:solidFill>
                  <a:srgbClr val="64748B"/>
                </a:solidFill>
              </a:defRPr>
            </a:pPr>
            <a:r>
              <a:t>✔ Smooth Predictions: Avoids wild over- or under-valuations on uncommon vehicle trims.</a:t>
            </a:r>
          </a:p>
          <a:p>
            <a:pPr>
              <a:spcBef>
                <a:spcPts val="800"/>
              </a:spcBef>
              <a:defRPr sz="950">
                <a:solidFill>
                  <a:srgbClr val="64748B"/>
                </a:solidFill>
              </a:defRPr>
            </a:pPr>
            <a:r>
              <a:t>✔ Segment Adaptable: Accurately adjusts value curves across economy, luxury, and performance cars.</a:t>
            </a:r>
          </a:p>
          <a:p>
            <a:pPr>
              <a:spcBef>
                <a:spcPts val="800"/>
              </a:spcBef>
              <a:defRPr sz="950">
                <a:solidFill>
                  <a:srgbClr val="64748B"/>
                </a:solidFill>
              </a:defRPr>
            </a:pPr>
            <a:r>
              <a:t>✔ Prudent Choice: Delivers the safest, most consistent risk profile for commercial operations.</a:t>
            </a:r>
          </a:p>
        </p:txBody>
      </p:sp>
      <p:sp>
        <p:nvSpPr>
          <p:cNvPr id="7" name="Rounded Rectangle 6"/>
          <p:cNvSpPr/>
          <p:nvPr/>
        </p:nvSpPr>
        <p:spPr>
          <a:xfrm>
            <a:off x="731520" y="4572000"/>
            <a:ext cx="6858000" cy="1645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274320" tIns="228600" rtlCol="0" anchor="ctr"/>
          <a:lstStyle/>
          <a:p>
            <a:pPr algn="ctr">
              <a:defRPr sz="1100" b="1">
                <a:solidFill>
                  <a:srgbClr val="0F172A"/>
                </a:solidFill>
              </a:defRPr>
            </a:pPr>
            <a:r>
              <a:t>THE DECISION-MAKER SUMMARY</a:t>
            </a:r>
          </a:p>
          <a:p>
            <a:pPr>
              <a:spcBef>
                <a:spcPts val="600"/>
              </a:spcBef>
              <a:defRPr sz="1050">
                <a:solidFill>
                  <a:srgbClr val="64748B"/>
                </a:solidFill>
              </a:defRPr>
            </a:pPr>
            <a:r>
              <a:t>When tested on 800+ real customer cars the models had never seen before, Gradient Boosting consistently outperformed every alternative. It provides the safest, most stable foundation for commercial deployment.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84048"/>
            <a:ext cx="8686800" cy="292608"/>
          </a:xfrm>
          <a:prstGeom prst="rect">
            <a:avLst/>
          </a:prstGeom>
          <a:noFill/>
        </p:spPr>
        <p:txBody>
          <a:bodyPr wrap="square" lIns="0" tIns="0" rIns="0" bIns="0">
            <a:spAutoFit/>
          </a:bodyPr>
          <a:lstStyle/>
          <a:p>
            <a:pPr>
              <a:defRPr sz="1100" b="1">
                <a:solidFill>
                  <a:srgbClr val="2563EB"/>
                </a:solidFill>
                <a:latin typeface="Arial"/>
              </a:defRPr>
            </a:pPr>
            <a:r>
              <a:t>SOFTWARE WALKTHROUGH</a:t>
            </a:r>
          </a:p>
        </p:txBody>
      </p:sp>
      <p:sp>
        <p:nvSpPr>
          <p:cNvPr id="4" name="TextBox 3"/>
          <p:cNvSpPr txBox="1"/>
          <p:nvPr/>
        </p:nvSpPr>
        <p:spPr>
          <a:xfrm>
            <a:off x="731520" y="658368"/>
            <a:ext cx="10515600" cy="594360"/>
          </a:xfrm>
          <a:prstGeom prst="rect">
            <a:avLst/>
          </a:prstGeom>
          <a:noFill/>
        </p:spPr>
        <p:txBody>
          <a:bodyPr wrap="square" lIns="0" tIns="0" rIns="0" bIns="0">
            <a:spAutoFit/>
          </a:bodyPr>
          <a:lstStyle/>
          <a:p>
            <a:pPr>
              <a:defRPr sz="2400" b="1">
                <a:solidFill>
                  <a:srgbClr val="0F172A"/>
                </a:solidFill>
                <a:latin typeface="Arial"/>
              </a:defRPr>
            </a:pPr>
            <a:r>
              <a:t>Final Selected Model: In-Action System Demonstration</a:t>
            </a:r>
          </a:p>
        </p:txBody>
      </p:sp>
      <p:sp>
        <p:nvSpPr>
          <p:cNvPr id="5" name="Rounded Rectangle 4"/>
          <p:cNvSpPr/>
          <p:nvPr/>
        </p:nvSpPr>
        <p:spPr>
          <a:xfrm>
            <a:off x="731520" y="1371600"/>
            <a:ext cx="4114800"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200" b="1">
                <a:solidFill>
                  <a:srgbClr val="2563EB"/>
                </a:solidFill>
              </a:defRPr>
            </a:pPr>
            <a:r>
              <a:t>LIVE VALUATION PROTOCOL</a:t>
            </a:r>
          </a:p>
          <a:p>
            <a:pPr>
              <a:spcBef>
                <a:spcPts val="800"/>
              </a:spcBef>
              <a:defRPr sz="1050" b="1">
                <a:solidFill>
                  <a:srgbClr val="0F172A"/>
                </a:solidFill>
              </a:defRPr>
            </a:pPr>
            <a:r>
              <a:t>Step 1: Open Valuation Console</a:t>
            </a:r>
          </a:p>
          <a:p>
            <a:pPr>
              <a:defRPr sz="950">
                <a:solidFill>
                  <a:srgbClr val="64748B"/>
                </a:solidFill>
              </a:defRPr>
            </a:pPr>
            <a:r>
              <a:t>Access web portal via standard desktop or tablet browser.</a:t>
            </a:r>
          </a:p>
          <a:p>
            <a:pPr>
              <a:spcBef>
                <a:spcPts val="800"/>
              </a:spcBef>
              <a:defRPr sz="1050" b="1">
                <a:solidFill>
                  <a:srgbClr val="0F172A"/>
                </a:solidFill>
              </a:defRPr>
            </a:pPr>
            <a:r>
              <a:t>Step 2: Enter Car Specifications</a:t>
            </a:r>
          </a:p>
          <a:p>
            <a:pPr>
              <a:defRPr sz="950">
                <a:solidFill>
                  <a:srgbClr val="64748B"/>
                </a:solidFill>
              </a:defRPr>
            </a:pPr>
            <a:r>
              <a:t>Input Make, Year, Mileage, Transmission, Fuel, and Title condition.</a:t>
            </a:r>
          </a:p>
          <a:p>
            <a:pPr>
              <a:spcBef>
                <a:spcPts val="800"/>
              </a:spcBef>
              <a:defRPr sz="1050" b="1">
                <a:solidFill>
                  <a:srgbClr val="0F172A"/>
                </a:solidFill>
              </a:defRPr>
            </a:pPr>
            <a:r>
              <a:t>Step 3: Instant Automated Valuation</a:t>
            </a:r>
          </a:p>
          <a:p>
            <a:pPr>
              <a:defRPr sz="950">
                <a:solidFill>
                  <a:srgbClr val="64748B"/>
                </a:solidFill>
              </a:defRPr>
            </a:pPr>
            <a:r>
              <a:t>System benchmarks vehicle against market data in &lt; 2 seconds.</a:t>
            </a:r>
          </a:p>
          <a:p>
            <a:pPr>
              <a:spcBef>
                <a:spcPts val="800"/>
              </a:spcBef>
              <a:defRPr sz="1050" b="1">
                <a:solidFill>
                  <a:srgbClr val="0F172A"/>
                </a:solidFill>
              </a:defRPr>
            </a:pPr>
            <a:r>
              <a:t>Step 4: Review Negotiation Corridor</a:t>
            </a:r>
          </a:p>
          <a:p>
            <a:pPr>
              <a:defRPr sz="950">
                <a:solidFill>
                  <a:srgbClr val="64748B"/>
                </a:solidFill>
              </a:defRPr>
            </a:pPr>
            <a:r>
              <a:t>Staff views market price and a safe negotiation band (lower/upper bounds).</a:t>
            </a:r>
          </a:p>
          <a:p>
            <a:pPr>
              <a:spcBef>
                <a:spcPts val="800"/>
              </a:spcBef>
              <a:defRPr sz="1050" b="1">
                <a:solidFill>
                  <a:srgbClr val="0F172A"/>
                </a:solidFill>
              </a:defRPr>
            </a:pPr>
            <a:r>
              <a:t>Step 5: Audit &amp; History Tracking</a:t>
            </a:r>
          </a:p>
          <a:p>
            <a:pPr>
              <a:defRPr sz="950">
                <a:solidFill>
                  <a:srgbClr val="64748B"/>
                </a:solidFill>
              </a:defRPr>
            </a:pPr>
            <a:r>
              <a:t>Valuation is saved to database for branch tracking and management review.</a:t>
            </a:r>
          </a:p>
        </p:txBody>
      </p:sp>
      <p:sp>
        <p:nvSpPr>
          <p:cNvPr id="6" name="Rounded Rectangle 5"/>
          <p:cNvSpPr/>
          <p:nvPr/>
        </p:nvSpPr>
        <p:spPr>
          <a:xfrm>
            <a:off x="5120640" y="1371600"/>
            <a:ext cx="6339535" cy="484632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lIns="365760" tIns="365760" rtlCol="0" anchor="ctr"/>
          <a:lstStyle/>
          <a:p>
            <a:pPr algn="ctr">
              <a:defRPr sz="1200" b="1">
                <a:solidFill>
                  <a:srgbClr val="0EA5E9"/>
                </a:solidFill>
              </a:defRPr>
            </a:pPr>
            <a:r>
              <a:t>AUTOVALUATE ENTERPRISE PORTAL — LIVE VIEW</a:t>
            </a:r>
          </a:p>
        </p:txBody>
      </p:sp>
      <p:sp>
        <p:nvSpPr>
          <p:cNvPr id="7" name="Rounded Rectangle 6"/>
          <p:cNvSpPr/>
          <p:nvPr/>
        </p:nvSpPr>
        <p:spPr>
          <a:xfrm>
            <a:off x="5486400" y="2011680"/>
            <a:ext cx="5577840" cy="3840480"/>
          </a:xfrm>
          <a:prstGeom prst="roundRect">
            <a:avLst/>
          </a:prstGeom>
          <a:solidFill>
            <a:srgbClr val="1E293B"/>
          </a:solidFill>
          <a:ln>
            <a:solidFill>
              <a:srgbClr val="2563EB"/>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000" b="1">
                <a:solidFill>
                  <a:srgbClr val="2563EB"/>
                </a:solidFill>
              </a:defRPr>
            </a:pPr>
            <a:r>
              <a:t>REAL-TIME MARKET VALUATION OUTPUT</a:t>
            </a:r>
          </a:p>
          <a:p>
            <a:pPr>
              <a:spcBef>
                <a:spcPts val="600"/>
              </a:spcBef>
              <a:defRPr sz="3600" b="1">
                <a:solidFill>
                  <a:srgbClr val="FFFFFF"/>
                </a:solidFill>
              </a:defRPr>
            </a:pPr>
            <a:r>
              <a:t>$48,250 USD</a:t>
            </a:r>
          </a:p>
          <a:p>
            <a:pPr>
              <a:spcBef>
                <a:spcPts val="400"/>
              </a:spcBef>
              <a:defRPr sz="1100">
                <a:solidFill>
                  <a:srgbClr val="0EA5E9"/>
                </a:solidFill>
              </a:defRPr>
            </a:pPr>
            <a:r>
              <a:t>Recommended Negotiation Band: $43,100 – $54,200</a:t>
            </a:r>
          </a:p>
          <a:p>
            <a:pPr>
              <a:spcBef>
                <a:spcPts val="500"/>
              </a:spcBef>
              <a:defRPr sz="950">
                <a:solidFill>
                  <a:srgbClr val="CBD5E1"/>
                </a:solidFill>
              </a:defRPr>
            </a:pPr>
            <a:r>
              <a:t>• Vehicle Profile: 2021 BMW 3-Series (Automatic, Gasoline, Clean Title)</a:t>
            </a:r>
          </a:p>
          <a:p>
            <a:pPr>
              <a:spcBef>
                <a:spcPts val="500"/>
              </a:spcBef>
              <a:defRPr sz="950">
                <a:solidFill>
                  <a:srgbClr val="CBD5E1"/>
                </a:solidFill>
              </a:defRPr>
            </a:pPr>
            <a:r>
              <a:t>• Odometer Reading: 35,000 miles (~8,750 miles/year usage rate)</a:t>
            </a:r>
          </a:p>
          <a:p>
            <a:pPr>
              <a:spcBef>
                <a:spcPts val="500"/>
              </a:spcBef>
              <a:defRPr sz="950">
                <a:solidFill>
                  <a:srgbClr val="CBD5E1"/>
                </a:solidFill>
              </a:defRPr>
            </a:pPr>
            <a:r>
              <a:t>• Key Drivers Identified: Luxury Brand Equity (+), Clean Title Bonus (+)</a:t>
            </a:r>
          </a:p>
          <a:p>
            <a:pPr>
              <a:spcBef>
                <a:spcPts val="500"/>
              </a:spcBef>
              <a:defRPr sz="950">
                <a:solidFill>
                  <a:srgbClr val="CBD5E1"/>
                </a:solidFill>
              </a:defRPr>
            </a:pPr>
            <a:r>
              <a:t>• Enterprise Tracking: Saved under active user session; searchable &amp; auditable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097280"/>
            <a:ext cx="109728" cy="43891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97280"/>
            <a:ext cx="10058400" cy="914400"/>
          </a:xfrm>
          <a:prstGeom prst="rect">
            <a:avLst/>
          </a:prstGeom>
          <a:noFill/>
        </p:spPr>
        <p:txBody>
          <a:bodyPr wrap="none">
            <a:spAutoFit/>
          </a:bodyPr>
          <a:lstStyle/>
          <a:p>
            <a:pPr>
              <a:defRPr sz="3200" b="1">
                <a:solidFill>
                  <a:srgbClr val="FFFFFF"/>
                </a:solidFill>
              </a:defRPr>
            </a:pPr>
            <a:r>
              <a:t>Business Impact, Recommendations &amp; Conclusion</a:t>
            </a:r>
          </a:p>
        </p:txBody>
      </p:sp>
      <p:sp>
        <p:nvSpPr>
          <p:cNvPr id="5" name="Rounded Rectangle 4"/>
          <p:cNvSpPr/>
          <p:nvPr/>
        </p:nvSpPr>
        <p:spPr>
          <a:xfrm>
            <a:off x="1097280" y="2011680"/>
            <a:ext cx="9875520" cy="8229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lIns="274320" tIns="137160" rtlCol="0" anchor="ctr"/>
          <a:lstStyle/>
          <a:p>
            <a:pPr algn="ctr">
              <a:defRPr sz="1100" b="1">
                <a:solidFill>
                  <a:srgbClr val="0EA5E9"/>
                </a:solidFill>
              </a:defRPr>
            </a:pPr>
            <a:r>
              <a:t>✔ 90% FASTER APPRAISAL VELOCITY</a:t>
            </a:r>
          </a:p>
          <a:p>
            <a:pPr>
              <a:spcBef>
                <a:spcPts val="200"/>
              </a:spcBef>
              <a:defRPr sz="1000">
                <a:solidFill>
                  <a:srgbClr val="FFFFFF"/>
                </a:solidFill>
              </a:defRPr>
            </a:pPr>
            <a:r>
              <a:t>Cuts trade-in evaluation time from 30+ minutes of manual search to under 2 seconds, accelerating customer closing rates.</a:t>
            </a:r>
          </a:p>
        </p:txBody>
      </p:sp>
      <p:sp>
        <p:nvSpPr>
          <p:cNvPr id="6" name="Rounded Rectangle 5"/>
          <p:cNvSpPr/>
          <p:nvPr/>
        </p:nvSpPr>
        <p:spPr>
          <a:xfrm>
            <a:off x="1097280" y="2971800"/>
            <a:ext cx="9875520" cy="8229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lIns="274320" tIns="137160" rtlCol="0" anchor="ctr"/>
          <a:lstStyle/>
          <a:p>
            <a:pPr algn="ctr">
              <a:defRPr sz="1100" b="1">
                <a:solidFill>
                  <a:srgbClr val="0EA5E9"/>
                </a:solidFill>
              </a:defRPr>
            </a:pPr>
            <a:r>
              <a:t>✔ ENTERPRISE PRICING CONSISTENCY</a:t>
            </a:r>
          </a:p>
          <a:p>
            <a:pPr>
              <a:spcBef>
                <a:spcPts val="200"/>
              </a:spcBef>
              <a:defRPr sz="1000">
                <a:solidFill>
                  <a:srgbClr val="FFFFFF"/>
                </a:solidFill>
              </a:defRPr>
            </a:pPr>
            <a:r>
              <a:t>Ensures junior and senior appraisers across all branches price vehicles against the same objective market playbook.</a:t>
            </a:r>
          </a:p>
        </p:txBody>
      </p:sp>
      <p:sp>
        <p:nvSpPr>
          <p:cNvPr id="7" name="Rounded Rectangle 6"/>
          <p:cNvSpPr/>
          <p:nvPr/>
        </p:nvSpPr>
        <p:spPr>
          <a:xfrm>
            <a:off x="1097280" y="3931920"/>
            <a:ext cx="9875520" cy="8229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lIns="274320" tIns="137160" rtlCol="0" anchor="ctr"/>
          <a:lstStyle/>
          <a:p>
            <a:pPr algn="ctr">
              <a:defRPr sz="1100" b="1">
                <a:solidFill>
                  <a:srgbClr val="0EA5E9"/>
                </a:solidFill>
              </a:defRPr>
            </a:pPr>
            <a:r>
              <a:t>✔ PROFIT MARGIN PROTECTION</a:t>
            </a:r>
          </a:p>
          <a:p>
            <a:pPr>
              <a:spcBef>
                <a:spcPts val="200"/>
              </a:spcBef>
              <a:defRPr sz="1000">
                <a:solidFill>
                  <a:srgbClr val="FFFFFF"/>
                </a:solidFill>
              </a:defRPr>
            </a:pPr>
            <a:r>
              <a:t>Prevents costly inventory stagnation caused by overpricing and eliminates money left on the table through underpricing.</a:t>
            </a:r>
          </a:p>
        </p:txBody>
      </p:sp>
      <p:sp>
        <p:nvSpPr>
          <p:cNvPr id="8" name="Rounded Rectangle 7"/>
          <p:cNvSpPr/>
          <p:nvPr/>
        </p:nvSpPr>
        <p:spPr>
          <a:xfrm>
            <a:off x="1097280" y="4892040"/>
            <a:ext cx="9875520" cy="8229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lIns="274320" tIns="137160" rtlCol="0" anchor="ctr"/>
          <a:lstStyle/>
          <a:p>
            <a:pPr algn="ctr">
              <a:defRPr sz="1100" b="1">
                <a:solidFill>
                  <a:srgbClr val="0EA5E9"/>
                </a:solidFill>
              </a:defRPr>
            </a:pPr>
            <a:r>
              <a:t>✔ PRODUCTION-READY SOFTWARE</a:t>
            </a:r>
          </a:p>
          <a:p>
            <a:pPr>
              <a:spcBef>
                <a:spcPts val="200"/>
              </a:spcBef>
              <a:defRPr sz="1000">
                <a:solidFill>
                  <a:srgbClr val="FFFFFF"/>
                </a:solidFill>
              </a:defRPr>
            </a:pPr>
            <a:r>
              <a:t>Complete, tested software application with user authentication, database persistence, and transparent valuation bands.</a:t>
            </a:r>
          </a:p>
        </p:txBody>
      </p:sp>
      <p:sp>
        <p:nvSpPr>
          <p:cNvPr id="9" name="Rounded Rectangle 8"/>
          <p:cNvSpPr/>
          <p:nvPr/>
        </p:nvSpPr>
        <p:spPr>
          <a:xfrm>
            <a:off x="1097280" y="5623560"/>
            <a:ext cx="9875520" cy="7772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"From manual estimation to data-driven pricing intelligence."  —  Thank you!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2825</Words>
  <Application>Microsoft Office PowerPoint</Application>
  <PresentationFormat>Widescreen</PresentationFormat>
  <Paragraphs>259</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Adi Dissanayake</cp:lastModifiedBy>
  <cp:revision>2</cp:revision>
  <dcterms:created xsi:type="dcterms:W3CDTF">2013-01-27T09:14:16Z</dcterms:created>
  <dcterms:modified xsi:type="dcterms:W3CDTF">2026-10-10T07:52:29Z</dcterms:modified>
  <cp:category/>
</cp:coreProperties>
</file>