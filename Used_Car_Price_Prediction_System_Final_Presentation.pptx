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634" autoAdjust="0"/>
  </p:normalViewPr>
  <p:slideViewPr>
    <p:cSldViewPr snapToGrid="0" snapToObjects="1">
      <p:cViewPr varScale="1">
        <p:scale>
          <a:sx n="75" d="100"/>
          <a:sy n="75" d="100"/>
        </p:scale>
        <p:origin x="94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721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4663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29184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EXECUTIVE VALUATION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Used Car Price</a:t>
            </a:r>
            <a:br/>
            <a:r>
              <a:t>Prediction System</a:t>
            </a:r>
          </a:p>
          <a:p>
            <a:pPr>
              <a:spcBef>
                <a:spcPts val="1000"/>
              </a:spcBef>
              <a:defRPr sz="1500">
                <a:solidFill>
                  <a:srgbClr val="0EA5E9"/>
                </a:solidFill>
                <a:latin typeface="Arial"/>
              </a:defRPr>
            </a:pPr>
            <a:r>
              <a:t>Data-driven vehicle valuation for smarter pricing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931920"/>
            <a:ext cx="484632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CORE VALUE PROPOSITION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✔ Replaces subjective appraisal guesswork with empirical market intelligence.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✔ Generates instant fair market valuations in under 2 seconds.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✔ Tested on 4,000+ real transactions to protect dealership profit margins.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8" name="Picture 7" descr="car_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120640" cy="3200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4892040"/>
            <a:ext cx="52120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64592" rtlCol="0" anchor="ctr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rPr lang="en-US" dirty="0"/>
              <a:t>ENTERPRISE INTELLIGENCE ENGINE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rPr lang="en-US" dirty="0"/>
              <a:t>                            Benchmarked on verified commercial transaction datasets.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MARKET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The Business Problem: The Cost of Pricing Guesswork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32004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dirty="0"/>
              <a:t>THE APPRAISAL CHALLENGE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rPr dirty="0"/>
              <a:t>• High Multi-Factor Variance: Every used car has a unique blend of mileage, age, brand prestige, and history.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rPr dirty="0"/>
              <a:t>• Inconsistent Evaluations: Different appraisers evaluate the same vehicle differently across branch locations.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rPr dirty="0"/>
              <a:t>• Time-Consuming Research: Staff spend 30 to 45 minutes manually cross-checking classified portals per vehicle.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rPr dirty="0"/>
              <a:t>• Unpredictable Margins: Subjective pricing leads to volatile, unpredictable gross profit margins.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320040" rtlCol="0" anchor="ctr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rPr dirty="0"/>
              <a:t>THE DUAL FINANCIAL RISKS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45804"/>
            <a:ext cx="4663440" cy="128016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64592" rtlCol="0" anchor="ctr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OVERPRICING  ►  INVENTORY STAGNATION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Car sits on the lot for months. Holding costs accumulate, capital is frozen, and forced discounts destroy profits.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772638"/>
            <a:ext cx="4663440" cy="1280160"/>
          </a:xfrm>
          <a:prstGeom prst="round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64592" rtlCol="0" anchor="ctr"/>
          <a:lstStyle/>
          <a:p>
            <a:pPr algn="ctr">
              <a:defRPr sz="1100" b="1">
                <a:solidFill>
                  <a:srgbClr val="C2410C"/>
                </a:solidFill>
              </a:defRPr>
            </a:pPr>
            <a:r>
              <a:t>UNDERPRICING  ►  FORFEITED PROFIT MARGIN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Car sells immediately, but thousands of dollars in legitimate gross margin are permanently lost.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532120"/>
            <a:ext cx="106984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600" dirty="0"/>
              <a:t>Subjective appraisal guesswork directly threatens dealership profitability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Data Foundation &amp; Preprocessing: Clean, Reliable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EA5E9"/>
                </a:solidFill>
              </a:defRPr>
            </a:pPr>
            <a:r>
              <a:t>DATA FOUNDATION: 4,008 REAL CAR SALES   |   3,206 TRAINING SAMPLES   |   802 UNTOUCHED TEST BENCHMARK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64592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1. DATA CLEANING &amp; QUALITY CONTROL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Filtered duplicate listings and verified vehicle records.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Handled missing attributes with representative statistical medians.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Ensured only complete, verified market profiles entered the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64592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2. TARGET PRICE STABILIZATION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Used car prices span from $2,500 commuters to $300,000+ luxury cars.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Normalized price distribution using logarithmic scaling.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Prevents extreme exotic outliers from distorting everyday car estimates.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64592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3. DERIVED BUSINESS INDICATORS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Engineered 'Miles per Year' to separate heavy fleet wear from commuter cars.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Flagged Luxury Brand tiers to capture distinct luxury depreciation behavior.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Encoded transmission, fuel type, and clean title status into market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64592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4. STRICT UNSEEN BENCHMARK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Reserved 20% of all data (802 vehicles) completely untouched.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Evaluated models strictly on unseen cars to simulate live customer arrivals.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Guarantees that reported accuracy reflects real-world commercial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23560"/>
            <a:ext cx="10728655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KEY TAKEAWAY: Rigorous data preprocessing ensures the system learns genuine market behavior rather than statistical noise.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MARKET DISCOVERIES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Key Market Drivers: What Truly Dictates Vehicle Resale Value?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228600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01. AGE &amp; USAGE INTENSITY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• Year-over-year mechanical and technological depreciation.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• Annual usage rate differentiates commuter cars from fleet wear.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• Age alone is misleading without knowing yearly usage intensity.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1463040"/>
            <a:ext cx="25603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228600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02. ODOMETER MILEAGE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• Primary indicator of physical mechanical wear.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• Strongest day-to-day downward price driver.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• Depreciation penalty naturally flattens at higher mileage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463040"/>
            <a:ext cx="25603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228600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03. BRAND &amp; LUXURY PRESTIGE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• Prestige brands (Porsche, BMW, Mercedes) follow distinct value curves.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• Economy brands (Toyota, Honda) offer steady, predictable resale.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• Prevents applying budget car depreciation rules to luxury cars.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463040"/>
            <a:ext cx="25603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228600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04. TITLE &amp; ACCIDENT RECORD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• Clean title verification is a prerequisite for fair trade-in value.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• Salvage or rebuilt titles trigger steep wholesale penalties.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• Prior accident history significantly dampens resale demand.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728655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BUSINESS INSIGHT: "True market value comes from the compound interaction of age, usage rate, brand prestige, and title status."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MODELING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Valuation Approaches: Exploring 4 Core Methods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64592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1. LINEAR REGRESSION</a:t>
            </a:r>
          </a:p>
          <a:p>
            <a:pPr>
              <a:spcBef>
                <a:spcPts val="200"/>
              </a:spcBef>
              <a:defRPr sz="950" b="1">
                <a:solidFill>
                  <a:srgbClr val="0F172A"/>
                </a:solidFill>
              </a:defRPr>
            </a:pPr>
            <a:r>
              <a:t>Straight-Line Baseline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How it works: Assumes price drops in a fixed straight line with age and mileage.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Business Role: Useful baseline benchmark.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Limitation: Misses curved market realities like luxury brand retention.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64592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2. DECISION TREE</a:t>
            </a:r>
          </a:p>
          <a:p>
            <a:pPr>
              <a:spcBef>
                <a:spcPts val="200"/>
              </a:spcBef>
              <a:defRPr sz="950" b="1">
                <a:solidFill>
                  <a:srgbClr val="0F172A"/>
                </a:solidFill>
              </a:defRPr>
            </a:pPr>
            <a:r>
              <a:t>Single Rule-Tree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How it works: Splits cars using simple if-then decision rules.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Business Role: Highly transparent rules.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Limitation: Overly rigid; makes erratic price jumps on unseen vehicles.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64592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3. RANDOM FOREST</a:t>
            </a:r>
          </a:p>
          <a:p>
            <a:pPr>
              <a:spcBef>
                <a:spcPts val="200"/>
              </a:spcBef>
              <a:defRPr sz="950" b="1">
                <a:solidFill>
                  <a:srgbClr val="0F172A"/>
                </a:solidFill>
              </a:defRPr>
            </a:pPr>
            <a:r>
              <a:t>Committee Consensus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How it works: Averages estimates across a large team of diverse decision trees.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Business Role: Highly stable ensemble benchmark.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Limitation: Effective, but computationally heavier.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66160"/>
            <a:ext cx="521208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64592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4. GRADIENT BOOSTING</a:t>
            </a:r>
          </a:p>
          <a:p>
            <a:pPr>
              <a:spcBef>
                <a:spcPts val="200"/>
              </a:spcBef>
              <a:defRPr sz="950" b="1">
                <a:solidFill>
                  <a:srgbClr val="0F172A"/>
                </a:solidFill>
              </a:defRPr>
            </a:pPr>
            <a:r>
              <a:t>Iterative Pattern Refiner (Champion)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How it works: Sequentially builds trees that learn from and correct previous errors.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Business Role: Exceptional at nuanced patterns like luxury brand curves.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• Outcome: Delivered the highest explanatory power and consistency.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23560"/>
            <a:ext cx="10728655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STRATEGIC APPROACH: Benchmarked four distinct approaches to identify the safest, most dependable tool for business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Comparing the 4 Methods: Performance &amp; Business Suitability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6858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Pricing Method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Pattern 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Handling Complexity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Business Suitability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Linear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Baseline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Step-Wise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Unreliable / Inconsistent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High Consensus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Strong Contender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66.2%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Adaptive Refinement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★ Selected Champion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63840" y="1371600"/>
            <a:ext cx="3596335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WHY THE CHAMPION WON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Gradient Boosting Regressor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✔ Highest Accuracy: Captured 66.2% of market price variation on 800+ unseen test vehicles.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✔ Smooth Predictions: Avoids wild over- or under-valuations on uncommon vehicle trims.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✔ Segment Adaptable: Accurately adjusts value curves across economy, luxury, and performance cars.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✔ Prudent Choice: Delivers the safest, most consistent risk profile for commercial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6858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THE DECISION-MAKER SUMMARY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When tested on 800+ real customer cars the models had never seen before, Gradient Boosting consistently outperformed every alternative. It provides the safest, most stable foundation for commercial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SOFTWARE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Final Selected Model: In-Action System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LIVE VALUATION PROTOCOL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Step 1: Open Valuation Console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Access web portal via standard desktop or tablet browser.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Step 2: Enter Car Specifications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Input Make, Year, Mileage, Transmission, Fuel, and Title condition.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Step 3: Instant Automated Valuation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System benchmarks vehicle against market data in &lt; 2 seconds.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Step 4: Review Negotiation Corridor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Staff views market price and a safe negotiation band (lower/upper bounds).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Step 5: Audit &amp; History Tracking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Valuation is saved to database for branch tracking and management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371600"/>
            <a:ext cx="6339535" cy="48463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ctr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AUTOVALUATE ENTERPRISE PORTAL — LIVE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011680"/>
            <a:ext cx="55778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REAL-TIME MARKET VALUATION OUTPUT</a:t>
            </a:r>
          </a:p>
          <a:p>
            <a:pPr>
              <a:spcBef>
                <a:spcPts val="600"/>
              </a:spcBef>
              <a:defRPr sz="3600" b="1">
                <a:solidFill>
                  <a:srgbClr val="FFFFFF"/>
                </a:solidFill>
              </a:defRPr>
            </a:pPr>
            <a:r>
              <a:t>$48,250 USD</a:t>
            </a:r>
          </a:p>
          <a:p>
            <a:pPr>
              <a:spcBef>
                <a:spcPts val="400"/>
              </a:spcBef>
              <a:defRPr sz="1100">
                <a:solidFill>
                  <a:srgbClr val="0EA5E9"/>
                </a:solidFill>
              </a:defRPr>
            </a:pPr>
            <a:r>
              <a:t>Recommended Negotiation Band: $43,100 – $54,200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• Vehicle Profile: 2021 BMW 3-Series (Automatic, Gasoline, Clean Title)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• Odometer Reading: 35,000 miles (~8,750 miles/year usage rate)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• Key Drivers Identified: Luxury Brand Equity (+), Clean Title Bonus (+)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• Enterprise Tracking: Saved under active user session; searchable &amp; auditable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Business Impact, Recommendations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11680"/>
            <a:ext cx="987552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✔ 90% FASTER APPRAISAL VELOCITY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</a:defRPr>
            </a:pPr>
            <a:r>
              <a:t>Cuts trade-in evaluation time from 30+ minutes of manual search to under 2 seconds, accelerating customer closing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971800"/>
            <a:ext cx="987552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✔ ENTERPRISE PRICING CONSISTENCY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</a:defRPr>
            </a:pPr>
            <a:r>
              <a:t>Ensures junior and senior appraisers across all branches price vehicles against the same objective market playbook.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931920"/>
            <a:ext cx="987552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✔ PROFIT MARGIN PROTECTION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</a:defRPr>
            </a:pPr>
            <a:r>
              <a:t>Prevents costly inventory stagnation caused by overpricing and eliminates money left on the table through underpricing.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892040"/>
            <a:ext cx="987552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✔ PRODUCTION-READY SOFTWARE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</a:defRPr>
            </a:pPr>
            <a:r>
              <a:t>Complete, tested software application with user authentication, database persistence, and transparent valuation bands.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623560"/>
            <a:ext cx="987552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"From manual estimation to data-driven pricing intelligence."  —  Thank you!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1262</Words>
  <Application>Microsoft Office PowerPoint</Application>
  <PresentationFormat>Widescreen</PresentationFormat>
  <Paragraphs>145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 Dissanayake</cp:lastModifiedBy>
  <cp:revision>3</cp:revision>
  <dcterms:created xsi:type="dcterms:W3CDTF">2013-01-27T09:14:16Z</dcterms:created>
  <dcterms:modified xsi:type="dcterms:W3CDTF">2026-10-10T13:44:35Z</dcterms:modified>
  <cp:category/>
</cp:coreProperties>
</file>